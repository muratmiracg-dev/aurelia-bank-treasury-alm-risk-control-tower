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b1057d52324562" /><Relationship Type="http://schemas.openxmlformats.org/officeDocument/2006/relationships/extended-properties" Target="/docProps/app.xml" Id="R5098ff3c54ca4073" /><Relationship Type="http://schemas.openxmlformats.org/officeDocument/2006/relationships/officeDocument" Target="/ppt/presentation.xml" Id="Re2611d6a45754a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c5fa283ecb4372"/>
  </p:sldMasterIdLst>
  <p:notesMasterIdLst>
    <p:notesMasterId xmlns:r="http://schemas.openxmlformats.org/officeDocument/2006/relationships" r:id="Rd033183a6f3f4f7c"/>
  </p:notesMasterIdLst>
  <p:sldIdLst>
    <p:sldId xmlns:r="http://schemas.openxmlformats.org/officeDocument/2006/relationships" id="256" r:id="Rb7d663c555884971"/>
    <p:sldId xmlns:r="http://schemas.openxmlformats.org/officeDocument/2006/relationships" id="257" r:id="R8023b39412bd4b41"/>
    <p:sldId xmlns:r="http://schemas.openxmlformats.org/officeDocument/2006/relationships" id="258" r:id="Rc2f4dc4ef5e44ffd"/>
    <p:sldId xmlns:r="http://schemas.openxmlformats.org/officeDocument/2006/relationships" id="259" r:id="Raa20ae3cae1f42b4"/>
    <p:sldId xmlns:r="http://schemas.openxmlformats.org/officeDocument/2006/relationships" id="260" r:id="R544e7b40912649eb"/>
    <p:sldId xmlns:r="http://schemas.openxmlformats.org/officeDocument/2006/relationships" id="261" r:id="Rd3c687e7e20b44b7"/>
    <p:sldId xmlns:r="http://schemas.openxmlformats.org/officeDocument/2006/relationships" id="262" r:id="R92ad7e2ea79b4632"/>
    <p:sldId xmlns:r="http://schemas.openxmlformats.org/officeDocument/2006/relationships" id="263" r:id="R6dca238ad31248ee"/>
    <p:sldId xmlns:r="http://schemas.openxmlformats.org/officeDocument/2006/relationships" id="264" r:id="Rd459189973df4402"/>
    <p:sldId xmlns:r="http://schemas.openxmlformats.org/officeDocument/2006/relationships" id="265" r:id="R541b456075154eb5"/>
    <p:sldId xmlns:r="http://schemas.openxmlformats.org/officeDocument/2006/relationships" id="266" r:id="R1a1593e3b29f4a4f"/>
    <p:sldId xmlns:r="http://schemas.openxmlformats.org/officeDocument/2006/relationships" id="267" r:id="Rc89af6a95e134a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1d14c10d7d419e" /><Relationship Type="http://schemas.openxmlformats.org/officeDocument/2006/relationships/slideMaster" Target="/ppt/slideMasters/slideMaster1.xml" Id="Rbfc5fa283ecb4372" /><Relationship Type="http://schemas.openxmlformats.org/officeDocument/2006/relationships/notesMaster" Target="/ppt/notesMasters/notesMaster1.xml" Id="Rd033183a6f3f4f7c" /><Relationship Type="http://schemas.openxmlformats.org/officeDocument/2006/relationships/presProps" Target="/ppt/presProps.xml" Id="Rc0d9f8271fa44c5c" /><Relationship Type="http://schemas.openxmlformats.org/officeDocument/2006/relationships/tableStyles" Target="/ppt/tableStyles.xml" Id="R0d6a81d958684544" /><Relationship Type="http://schemas.openxmlformats.org/officeDocument/2006/relationships/slide" Target="/ppt/slides/slide1.xml" Id="Rb7d663c555884971" /><Relationship Type="http://schemas.openxmlformats.org/officeDocument/2006/relationships/slide" Target="/ppt/slides/slide2.xml" Id="R8023b39412bd4b41" /><Relationship Type="http://schemas.openxmlformats.org/officeDocument/2006/relationships/slide" Target="/ppt/slides/slide3.xml" Id="Rc2f4dc4ef5e44ffd" /><Relationship Type="http://schemas.openxmlformats.org/officeDocument/2006/relationships/slide" Target="/ppt/slides/slide4.xml" Id="Raa20ae3cae1f42b4" /><Relationship Type="http://schemas.openxmlformats.org/officeDocument/2006/relationships/slide" Target="/ppt/slides/slide5.xml" Id="R544e7b40912649eb" /><Relationship Type="http://schemas.openxmlformats.org/officeDocument/2006/relationships/slide" Target="/ppt/slides/slide6.xml" Id="Rd3c687e7e20b44b7" /><Relationship Type="http://schemas.openxmlformats.org/officeDocument/2006/relationships/slide" Target="/ppt/slides/slide7.xml" Id="R92ad7e2ea79b4632" /><Relationship Type="http://schemas.openxmlformats.org/officeDocument/2006/relationships/slide" Target="/ppt/slides/slide8.xml" Id="R6dca238ad31248ee" /><Relationship Type="http://schemas.openxmlformats.org/officeDocument/2006/relationships/slide" Target="/ppt/slides/slide9.xml" Id="Rd459189973df4402" /><Relationship Type="http://schemas.openxmlformats.org/officeDocument/2006/relationships/slide" Target="/ppt/slides/slide10.xml" Id="R541b456075154eb5" /><Relationship Type="http://schemas.openxmlformats.org/officeDocument/2006/relationships/slide" Target="/ppt/slides/slide11.xml" Id="R1a1593e3b29f4a4f" /><Relationship Type="http://schemas.openxmlformats.org/officeDocument/2006/relationships/slide" Target="/ppt/slides/slide12.xml" Id="Rc89af6a95e134a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1cc04826d744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171ebcd8f94aca" /><Relationship Type="http://schemas.openxmlformats.org/officeDocument/2006/relationships/notesMaster" Target="/ppt/notesMasters/notesMaster1.xml" Id="Refb3815f995a4f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d726c48f664a03" /><Relationship Type="http://schemas.openxmlformats.org/officeDocument/2006/relationships/notesMaster" Target="/ppt/notesMasters/notesMaster1.xml" Id="R418f029455364a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1b64fd478748aa" /><Relationship Type="http://schemas.openxmlformats.org/officeDocument/2006/relationships/notesMaster" Target="/ppt/notesMasters/notesMaster1.xml" Id="Rd35365a7366240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0d9779d9d54f36" /><Relationship Type="http://schemas.openxmlformats.org/officeDocument/2006/relationships/notesMaster" Target="/ppt/notesMasters/notesMaster1.xml" Id="Rb5a7bce9068444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4d8d5f2a854ca8" /><Relationship Type="http://schemas.openxmlformats.org/officeDocument/2006/relationships/notesMaster" Target="/ppt/notesMasters/notesMaster1.xml" Id="Radaa0797411f4b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febf4692794404" /><Relationship Type="http://schemas.openxmlformats.org/officeDocument/2006/relationships/notesMaster" Target="/ppt/notesMasters/notesMaster1.xml" Id="R8b22a47001c849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5ac80e73fd4a3a" /><Relationship Type="http://schemas.openxmlformats.org/officeDocument/2006/relationships/notesMaster" Target="/ppt/notesMasters/notesMaster1.xml" Id="R723d1efe807b4d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3c57f9de474148" /><Relationship Type="http://schemas.openxmlformats.org/officeDocument/2006/relationships/notesMaster" Target="/ppt/notesMasters/notesMaster1.xml" Id="R0cdc793a087c4d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47f64571834d73" /><Relationship Type="http://schemas.openxmlformats.org/officeDocument/2006/relationships/notesMaster" Target="/ppt/notesMasters/notesMaster1.xml" Id="R15c13bca6794441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6128ff6cd84f59" /><Relationship Type="http://schemas.openxmlformats.org/officeDocument/2006/relationships/notesMaster" Target="/ppt/notesMasters/notesMaster1.xml" Id="Rb926bbff89e84d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813dd4a9aa40c4" /><Relationship Type="http://schemas.openxmlformats.org/officeDocument/2006/relationships/notesMaster" Target="/ppt/notesMasters/notesMaster1.xml" Id="R1b3bc1b406e347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65aa72d5214317" /><Relationship Type="http://schemas.openxmlformats.org/officeDocument/2006/relationships/notesMaster" Target="/ppt/notesMasters/notesMaster1.xml" Id="R6924555c320943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decision context: this is an ALCO decision-support pack for a fictional bank. The banking book is controlled synthetic data; public sources anchor the market and regulatory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https://www.bis.org/bcbs/publ/d578.pdf</a:t>
            </a:r>
          </a:p>
          <a:p xmlns:a="http://schemas.openxmlformats.org/drawingml/2006/main">
            <a:r>
              <a:t>https://www.tcmb.gov.tr/wps/wcm/connect/tr/tcmb+tr/main+menu/duyurular/basin/2026/duy2026-23</a:t>
            </a:r>
          </a:p>
          <a:p xmlns:a="http://schemas.openxmlformats.org/drawingml/2006/main">
            <a:r>
              <a:t>https://www.bddk.org.tr/BultenAylik/tr/Home/HaberBulteni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formal FX breach, then the severe exploratory liquidity result. The rapid-run scenario is a management vulnerability test, not a Basel-prescribed regulatory scenario.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artifacts/results/executive_summary.json</a:t>
            </a:r>
          </a:p>
          <a:p xmlns:a="http://schemas.openxmlformats.org/drawingml/2006/main">
            <a:r>
              <a:t>docs/rapid_digital_run_scenario.md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three data classes. This separation prevents synthetic positions from being mistaken for market observations and prevents proxy ratios from being presented as regulatory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https://www.tcmb.gov.tr/</a:t>
            </a:r>
          </a:p>
          <a:p xmlns:a="http://schemas.openxmlformats.org/drawingml/2006/main">
            <a:r>
              <a:t>https://www.bddk.org.tr/BultenAylik/tr/Home/HaberBulteni</a:t>
            </a:r>
          </a:p>
          <a:p xmlns:a="http://schemas.openxmlformats.org/drawingml/2006/main">
            <a:r>
              <a:t>https://www.bis.org/bcbs/publ/d578.pdf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synthetic balance sheet composition. Loans equal TRY 120bn; securities equal TRY 35bn; cash and interbank assets equal TRY 25bn. The key ALM issue is duration and repricing behavior, not accounting imbalance.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orange columns identify negative gap buckets. Use this slide to connect the repricing profile to the NII downside shown later.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 Basel-prescribed scenarios are present. Parallel-up is the largest negative outcome. The limit is not breached, but the remaining headroom is only about 1.3 percentage points.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https://www.bis.org/bcbs/publ/d578.pdf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model risk and assumption governance. The NII limit is not close to binding, but non-maturity deposit behavior is a key sensitivity.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explicitly that the outputs are transparent management proxies, not regulatory returns. Under the severe exploratory rapid-run scenario, 55% of 30-day outflows arrive on day 1, 85% by day 7, stressed HQLA loses TRY 1.46bn, the LCR proxy falls to 78.1% and survival reaches seven days.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https://www.bis.org/basel_framework/chapter/LCR/20.htm</a:t>
            </a:r>
          </a:p>
          <a:p xmlns:a="http://schemas.openxmlformats.org/drawingml/2006/main">
            <a:r>
              <a:t>https://www.bis.org/basel_framework/chapter/NSF/20.htm</a:t>
            </a:r>
          </a:p>
          <a:p xmlns:a="http://schemas.openxmlformats.org/drawingml/2006/main">
            <a:r>
              <a:t>artifacts/results/liquidity.csv</a:t>
            </a:r>
          </a:p>
          <a:p xmlns:a="http://schemas.openxmlformats.org/drawingml/2006/main">
            <a:r>
              <a:t>docs/rapid_digital_run_scenario.md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single formal risk-limit breach in the engine. The position is short USD and EUR. A buy-FX/sell-TRY hedge reduces the exposure, subject to ALCO and execution controls.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targets are transparent reductions, not optimization outputs. FX hedge notional totals TRY 6.0bn. The TRY IRS notional is indicative for a 50% DV01 reduction. Every row carries ALCO_REVIEW_REQUIRED.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model validity from business-risk status. All 46 automated tests pass, line coverage is 93.88%, and the formal FX risk breach remains deliberately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tests/</a:t>
            </a:r>
          </a:p>
          <a:p xmlns:a="http://schemas.openxmlformats.org/drawingml/2006/main">
            <a:r>
              <a:t>docs/validation_report.md</a:t>
            </a:r>
          </a:p>
          <a:p xmlns:a="http://schemas.openxmlformats.org/drawingml/2006/main">
            <a:r>
              <a:t>.github/workflows/ci.yml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explicit decision. Ask ALCO to approve the sequence, activate the rapid-run contingency workstream, assign Treasury, ALM, Market Risk and Finance owners, and require a documented post-trade rerun.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docs/alco_playbook.md</a:t>
            </a:r>
          </a:p>
          <a:p xmlns:a="http://schemas.openxmlformats.org/drawingml/2006/main">
            <a:r>
              <a:t>docs/rapid_digital_run_scenario.md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2ce04b726d49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3fb40e09cf4003" /><Relationship Type="http://schemas.openxmlformats.org/officeDocument/2006/relationships/slideLayout" Target="/ppt/slideLayouts/slideLayout1.xml" Id="R00e18b07ada74c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e18b07ada74c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e9d560dfe409b" /><Relationship Type="http://schemas.openxmlformats.org/officeDocument/2006/relationships/notesSlide" Target="/ppt/notesSlides/notesSlide1.xml" Id="Rad033616fe7341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9461602654e98" /><Relationship Type="http://schemas.openxmlformats.org/officeDocument/2006/relationships/notesSlide" Target="/ppt/notesSlides/notesSlide2.xml" Id="R8c42e00fbdc341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8fa4e0d7a4e5a" /><Relationship Type="http://schemas.openxmlformats.org/officeDocument/2006/relationships/notesSlide" Target="/ppt/notesSlides/notesSlide3.xml" Id="R4a4ec1b15b9d47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1884ced554582" /><Relationship Type="http://schemas.openxmlformats.org/officeDocument/2006/relationships/chart" Target="/ppt/slides/charts/chart1.xml" Id="R19e00ebbc87340f3" /><Relationship Type="http://schemas.openxmlformats.org/officeDocument/2006/relationships/notesSlide" Target="/ppt/notesSlides/notesSlide4.xml" Id="Rb7c0659825d147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3882fab7d4d37" /><Relationship Type="http://schemas.openxmlformats.org/officeDocument/2006/relationships/chart" Target="/ppt/slides/charts/chart2.xml" Id="R9a1f61d49045497d" /><Relationship Type="http://schemas.openxmlformats.org/officeDocument/2006/relationships/notesSlide" Target="/ppt/notesSlides/notesSlide5.xml" Id="R16eba422172f44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29f0a2b01463a" /><Relationship Type="http://schemas.openxmlformats.org/officeDocument/2006/relationships/chart" Target="/ppt/slides/charts/chart3.xml" Id="Rd7e966b4c72a4c79" /><Relationship Type="http://schemas.openxmlformats.org/officeDocument/2006/relationships/notesSlide" Target="/ppt/notesSlides/notesSlide6.xml" Id="R9d0336673a3540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683af037f24c04" /><Relationship Type="http://schemas.openxmlformats.org/officeDocument/2006/relationships/chart" Target="/ppt/slides/charts/chart4.xml" Id="R44f6d60ee55c4309" /><Relationship Type="http://schemas.openxmlformats.org/officeDocument/2006/relationships/notesSlide" Target="/ppt/notesSlides/notesSlide7.xml" Id="Reae35cf5ce4a4f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b58ffe0284749" /><Relationship Type="http://schemas.openxmlformats.org/officeDocument/2006/relationships/chart" Target="/ppt/slides/charts/chart5.xml" Id="R7de4425024ca440b" /><Relationship Type="http://schemas.openxmlformats.org/officeDocument/2006/relationships/notesSlide" Target="/ppt/notesSlides/notesSlide8.xml" Id="Rd8fb9faf61ff4a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e10babd244cb9" /><Relationship Type="http://schemas.openxmlformats.org/officeDocument/2006/relationships/chart" Target="/ppt/slides/charts/chart6.xml" Id="Rccc0a2d8be1d4631" /><Relationship Type="http://schemas.openxmlformats.org/officeDocument/2006/relationships/notesSlide" Target="/ppt/notesSlides/notesSlide9.xml" Id="Rb161308d69dc4f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f91529e5cb42d0" /><Relationship Type="http://schemas.openxmlformats.org/officeDocument/2006/relationships/notesSlide" Target="/ppt/notesSlides/notesSlide10.xml" Id="R08aa073a28e44a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ad7912aa346fc" /><Relationship Type="http://schemas.openxmlformats.org/officeDocument/2006/relationships/notesSlide" Target="/ppt/notesSlides/notesSlide11.xml" Id="R71132f40a87d455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b3986693ce4112" /><Relationship Type="http://schemas.openxmlformats.org/officeDocument/2006/relationships/notesSlide" Target="/ppt/notesSlides/notesSlide12.xml" Id="R8f26ffd015c34bf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TRY bn</c:v>
          </c:tx>
          <c:spPr>
            <a:solidFill xmlns:a="http://schemas.openxmlformats.org/drawingml/2006/main">
              <a:srgbClr val="167CA5"/>
            </a:solidFill>
          </c:spPr>
          <c:cat>
            <c:strLit>
              <c:ptCount val="4"/>
              <c:pt idx="0">
                <c:v>Loans</c:v>
              </c:pt>
              <c:pt idx="1">
                <c:v>Securities</c:v>
              </c:pt>
              <c:pt idx="2">
                <c:v>Cash &amp; interbank</c:v>
              </c:pt>
              <c:pt idx="3">
                <c:v>Other assets</c:v>
              </c:pt>
            </c:strLit>
          </c:cat>
          <c:val>
            <c:numLit>
              <c:formatCode>0.0</c:formatCode>
              <c:ptCount val="4"/>
              <c:pt idx="0">
                <c:v>120</c:v>
              </c:pt>
              <c:pt idx="1">
                <c:v>35</c:v>
              </c:pt>
              <c:pt idx="2">
                <c:v>25</c:v>
              </c:pt>
              <c:pt idx="3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6E8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6616F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01820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Gap</c:v>
          </c:tx>
          <c:spPr>
            <a:solidFill xmlns:a="http://schemas.openxmlformats.org/drawingml/2006/main">
              <a:srgbClr val="167CA5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cat>
            <c:strLit>
              <c:ptCount val="10"/>
              <c:pt idx="0">
                <c:v>ON-1M</c:v>
              </c:pt>
              <c:pt idx="1">
                <c:v>1M-3M</c:v>
              </c:pt>
              <c:pt idx="2">
                <c:v>3M-6M</c:v>
              </c:pt>
              <c:pt idx="3">
                <c:v>6M-9M</c:v>
              </c:pt>
              <c:pt idx="4">
                <c:v>9M-1Y</c:v>
              </c:pt>
              <c:pt idx="5">
                <c:v>1Y-1.5Y</c:v>
              </c:pt>
              <c:pt idx="6">
                <c:v>1.5Y-2Y</c:v>
              </c:pt>
              <c:pt idx="7">
                <c:v>2Y-3Y</c:v>
              </c:pt>
              <c:pt idx="8">
                <c:v>3Y-4Y</c:v>
              </c:pt>
              <c:pt idx="9">
                <c:v>4Y-5Y</c:v>
              </c:pt>
            </c:strLit>
          </c:cat>
          <c:val>
            <c:numLit>
              <c:formatCode>0.0</c:formatCode>
              <c:ptCount val="10"/>
              <c:pt idx="0">
                <c:v>0.87397303</c:v>
              </c:pt>
              <c:pt idx="1">
                <c:v>-15.26966438</c:v>
              </c:pt>
              <c:pt idx="2">
                <c:v>1.471970026</c:v>
              </c:pt>
              <c:pt idx="3">
                <c:v>-22.417504653</c:v>
              </c:pt>
              <c:pt idx="4">
                <c:v>-1.6587740229999999</c:v>
              </c:pt>
              <c:pt idx="5">
                <c:v>0.524106494</c:v>
              </c:pt>
              <c:pt idx="6">
                <c:v>1.8098200309999999</c:v>
              </c:pt>
              <c:pt idx="7">
                <c:v>4.372298045</c:v>
              </c:pt>
              <c:pt idx="8">
                <c:v>17.532919831</c:v>
              </c:pt>
              <c:pt idx="9">
                <c:v>18.233104230000002</c:v>
              </c:pt>
            </c:numLit>
          </c:val>
        </c:ser>
        <c:gapWidth val="3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6616F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56616F"/>
                    </a:solidFill>
                  </a:rPr>
                  <a:t>TRY bn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56616F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6616F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Delta EVE</c:v>
          </c:tx>
          <c:spPr>
            <a:solidFill xmlns:a="http://schemas.openxmlformats.org/drawingml/2006/main">
              <a:srgbClr val="167CA5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67CA5"/>
              </a:solidFill>
            </c:spPr>
          </c:dPt>
          <c:cat>
            <c:strLit>
              <c:ptCount val="6"/>
              <c:pt idx="0">
                <c:v>parallel up</c:v>
              </c:pt>
              <c:pt idx="1">
                <c:v>parallel down</c:v>
              </c:pt>
              <c:pt idx="2">
                <c:v>steepener</c:v>
              </c:pt>
              <c:pt idx="3">
                <c:v>flattener</c:v>
              </c:pt>
              <c:pt idx="4">
                <c:v>short up</c:v>
              </c:pt>
              <c:pt idx="5">
                <c:v>short down</c:v>
              </c:pt>
            </c:strLit>
          </c:cat>
          <c:val>
            <c:numLit>
              <c:formatCode>0.0</c:formatCode>
              <c:ptCount val="6"/>
              <c:pt idx="0">
                <c:v>-3.0923760849999997</c:v>
              </c:pt>
              <c:pt idx="1">
                <c:v>3.6585116899999996</c:v>
              </c:pt>
              <c:pt idx="2">
                <c:v>-0.574568813</c:v>
              </c:pt>
              <c:pt idx="3">
                <c:v>-0.096980681</c:v>
              </c:pt>
              <c:pt idx="4">
                <c:v>-1.362502414</c:v>
              </c:pt>
              <c:pt idx="5">
                <c:v>1.462759883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6616F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4.5"/>
          <c:min val="-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56616F"/>
                    </a:solidFill>
                  </a:rPr>
                  <a:t>TRY bn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56616F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6616F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Delta NII</c:v>
          </c:tx>
          <c:spPr>
            <a:solidFill xmlns:a="http://schemas.openxmlformats.org/drawingml/2006/main">
              <a:srgbClr val="167CA5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cat>
            <c:strLit>
              <c:ptCount val="2"/>
              <c:pt idx="0">
                <c:v>Parallel up</c:v>
              </c:pt>
              <c:pt idx="1">
                <c:v>Parallel down</c:v>
              </c:pt>
            </c:strLit>
          </c:cat>
          <c:val>
            <c:numLit>
              <c:formatCode>0.0</c:formatCode>
              <c:ptCount val="2"/>
              <c:pt idx="0">
                <c:v>1.3249490000000002</c:v>
              </c:pt>
              <c:pt idx="1">
                <c:v>-1.3249490000000002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182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8"/>
          <c:min val="-1.8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56616F"/>
                    </a:solidFill>
                  </a:rPr>
                  <a:t>TRY bn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56616F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6616F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LCR proxy</c:v>
          </c:tx>
          <c:spPr>
            <a:solidFill xmlns:a="http://schemas.openxmlformats.org/drawingml/2006/main">
              <a:srgbClr val="167CA5"/>
            </a:solidFill>
          </c:spPr>
          <c:dPt>
            <c:idx val="3"/>
            <c:invertIfNegative val="0"/>
            <c:spPr>
              <a:solidFill xmlns:a="http://schemas.openxmlformats.org/drawingml/2006/main">
                <a:srgbClr val="F9731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F1D1D"/>
              </a:solidFill>
            </c:spPr>
          </c:dPt>
          <c:cat>
            <c:strLit>
              <c:ptCount val="5"/>
              <c:pt idx="0">
                <c:v>base</c:v>
              </c:pt>
              <c:pt idx="1">
                <c:v>idiosyncratic</c:v>
              </c:pt>
              <c:pt idx="2">
                <c:v>market wide</c:v>
              </c:pt>
              <c:pt idx="3">
                <c:v>combined</c:v>
              </c:pt>
              <c:pt idx="4">
                <c:v>rapid run</c:v>
              </c:pt>
            </c:strLit>
          </c:cat>
          <c:val>
            <c:numLit>
              <c:formatCode>0.0</c:formatCode>
              <c:ptCount val="5"/>
              <c:pt idx="0">
                <c:v>158.721676</c:v>
              </c:pt>
              <c:pt idx="1">
                <c:v>120.218579</c:v>
              </c:pt>
              <c:pt idx="2">
                <c:v>138.049642</c:v>
              </c:pt>
              <c:pt idx="3">
                <c:v>94.833642</c:v>
              </c:pt>
              <c:pt idx="4">
                <c:v>78.091516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0182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56616F"/>
                    </a:solidFill>
                  </a:rPr>
                  <a:t>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56616F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6616F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Absolute open position</c:v>
          </c:tx>
          <c:spPr>
            <a:solidFill xmlns:a="http://schemas.openxmlformats.org/drawingml/2006/main">
              <a:srgbClr val="F97316"/>
            </a:solidFill>
          </c:spPr>
          <c:cat>
            <c:strLit>
              <c:ptCount val="2"/>
              <c:pt idx="0">
                <c:v>EUR</c:v>
              </c:pt>
              <c:pt idx="1">
                <c:v>USD</c:v>
              </c:pt>
            </c:strLit>
          </c:cat>
          <c:val>
            <c:numLit>
              <c:formatCode>0.0</c:formatCode>
              <c:ptCount val="2"/>
              <c:pt idx="0">
                <c:v>1.5</c:v>
              </c:pt>
              <c:pt idx="1">
                <c:v>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050">
                    <a:solidFill>
                      <a:srgbClr val="56616F"/>
                    </a:solidFill>
                  </a:rPr>
                  <a:t>TRY bn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56616F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6616F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1820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5A46A-4F20-46D0-8A15-74838C16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67CA5"/>
                </a:solidFill>
              </a:defRPr>
            </a:pPr>
            <a:r>
              <a:rPr sz="1125" b="1" i="0">
                <a:solidFill>
                  <a:srgbClr val="167CA5"/>
                </a:solidFill>
              </a:rPr>
              <a:t>ALCO EXECUTIVE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45516-B38E-434D-8885-5914D5AB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20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1CF252B6-5442-4578-B9D3-73539E08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8001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950" b="1" i="0">
                <a:solidFill>
                  <a:srgbClr val="101820"/>
                </a:solidFill>
              </a:defRPr>
            </a:pPr>
            <a:r>
              <a:rPr sz="4950" b="1" i="0">
                <a:solidFill>
                  <a:srgbClr val="101820"/>
                </a:solidFill>
              </a:rPr>
              <a:t>Treasury &amp; ALM</a:t>
            </a:r>
          </a:p>
          <a:p xmlns:a="http://schemas.openxmlformats.org/drawingml/2006/main">
            <a:pPr algn="l">
              <a:buNone/>
              <a:defRPr sz="4950" b="1" i="0">
                <a:solidFill>
                  <a:srgbClr val="101820"/>
                </a:solidFill>
              </a:defRPr>
            </a:pPr>
            <a:r>
              <a:rPr sz="4950" b="1" i="0">
                <a:solidFill>
                  <a:srgbClr val="101820"/>
                </a:solidFill>
              </a:rPr>
              <a:t>Risk Control Tower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BE06A-235A-4C2E-847E-3D3FA35A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685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56616F"/>
                </a:solidFill>
              </a:defRPr>
            </a:pPr>
            <a:r>
              <a:rPr sz="1950" b="0" i="0">
                <a:solidFill>
                  <a:srgbClr val="56616F"/>
                </a:solidFill>
              </a:rPr>
              <a:t>Aurelia Bank | IRRBB, liquidity, FX and hedge decision support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C3ADE-64E3-41B4-9C24-B06DDED5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95450"/>
            <a:ext cx="23622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F60A9-AC3C-4C16-97B5-18E07E67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95450"/>
            <a:ext cx="1714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988DE-449A-430B-A04A-70ADB0ED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95500"/>
            <a:ext cx="160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01820"/>
                </a:solidFill>
              </a:defRPr>
            </a:pPr>
            <a:r>
              <a:rPr sz="2550" b="1" i="0">
                <a:solidFill>
                  <a:srgbClr val="101820"/>
                </a:solidFill>
              </a:rPr>
              <a:t>2026.08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2F543-C009-41B6-8D8E-DEB6FE7A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62250"/>
            <a:ext cx="1600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6616F"/>
                </a:solidFill>
              </a:defRPr>
            </a:pPr>
            <a:r>
              <a:rPr sz="1275" b="0" i="0">
                <a:solidFill>
                  <a:srgbClr val="56616F"/>
                </a:solidFill>
              </a:rPr>
              <a:t>Controlled synthetic banking book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56616F"/>
                </a:solidFill>
              </a:defRPr>
            </a:pPr>
            <a:r>
              <a:rPr sz="1275" b="0" i="0">
                <a:solidFill>
                  <a:srgbClr val="56616F"/>
                </a:solidFill>
              </a:rPr>
              <a:t>Official market anchors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56616F"/>
                </a:solidFill>
              </a:defRPr>
            </a:pPr>
            <a:r>
              <a:rPr sz="1275" b="0" i="0">
                <a:solidFill>
                  <a:srgbClr val="56616F"/>
                </a:solidFill>
              </a:rPr>
              <a:t>Six Basel IRRBB scenarios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A615CF-3098-4629-9A7F-69319720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819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Prepared by Murat Miraç Gedik | Portfolio demonstration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010853-2EB9-4B77-BE22-6FEE34EA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962650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101820"/>
                </a:solidFill>
              </a:defRPr>
            </a:pPr>
            <a:r>
              <a:rPr sz="1200" b="1" i="0">
                <a:solidFill>
                  <a:srgbClr val="101820"/>
                </a:solidFill>
              </a:rPr>
              <a:t>19 AUG 2026</a:t>
            </a:r>
          </a:p>
        </p:txBody>
      </p:sp>
    </p:spTree>
    <p:extLst>
      <p:ext uri="{BB962C8B-B14F-4D97-AF65-F5344CB8AC3E}">
        <p14:creationId xmlns:p14="http://schemas.microsoft.com/office/powerpoint/2010/main" val="7321269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E9A5B9-FCD0-4771-9C56-3C205940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47384-32B6-4473-A466-6A47244E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984EA-284F-42D2-AA2F-C6DA8719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DE400-E58B-4E85-87DE-1695BA6B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Source: Aurelia model outputs; internal risk appetite limits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984ED-795D-49AD-888F-1874C5D8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357D7-1757-4653-A97D-9698E5A0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Hedge FX now; activate rapid-run readiness next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BDF38F-089A-4BB3-92D3-0AE14493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The formal FX breach is actionable; the severe liquidity test demands operational readiness.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136C5-F2E5-4BA1-BC1C-1984F427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CEE6AD-2D5F-4E44-9943-584F43E9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819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97316"/>
                </a:solidFill>
              </a:defRPr>
            </a:pPr>
            <a:r>
              <a:rPr sz="3600" b="1" i="0">
                <a:solidFill>
                  <a:srgbClr val="F97316"/>
                </a:solidFill>
              </a:rPr>
              <a:t>33.3%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F2D0AD-ECF7-467A-B405-245E552F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432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1820"/>
                </a:solidFill>
              </a:defRPr>
            </a:pPr>
            <a:r>
              <a:rPr sz="1650" b="1" i="0">
                <a:solidFill>
                  <a:srgbClr val="101820"/>
                </a:solidFill>
              </a:rPr>
              <a:t>FX open / equity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B0B335-356F-4A32-A256-5BAD3F41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5DBD8-C474-4119-B16E-709B16F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43300"/>
            <a:ext cx="2819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20.0% limit | formal breach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3CE055-7AA5-4D67-8FE6-7D5ADC37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81200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B4C90-E86D-4ED9-A851-17B92164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47900"/>
            <a:ext cx="2819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97316"/>
                </a:solidFill>
              </a:defRPr>
            </a:pPr>
            <a:r>
              <a:rPr sz="3600" b="1" i="0">
                <a:solidFill>
                  <a:srgbClr val="F97316"/>
                </a:solidFill>
              </a:rPr>
              <a:t>78.1%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93FB81-B900-4EA9-929C-0DCE88D0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432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1820"/>
                </a:solidFill>
              </a:defRPr>
            </a:pPr>
            <a:r>
              <a:rPr sz="1650" b="1" i="0">
                <a:solidFill>
                  <a:srgbClr val="101820"/>
                </a:solidFill>
              </a:rPr>
              <a:t>Rapid-run LCR proxy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199C23-479E-46E3-AE5F-3F4F24DB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909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F894FD-A48D-4188-A5A4-6FE905CA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43300"/>
            <a:ext cx="2819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7-day survival | exploratory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66CBA8-7C6D-47A9-A625-CF106A33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81200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0EB361-DDBD-4B44-83A2-1A38491A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47900"/>
            <a:ext cx="2819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5803D"/>
                </a:solidFill>
              </a:defRPr>
            </a:pPr>
            <a:r>
              <a:rPr sz="3600" b="1" i="0">
                <a:solidFill>
                  <a:srgbClr val="15803D"/>
                </a:solidFill>
              </a:rPr>
              <a:t>13.7%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58D0FC-FBD3-454F-971B-BE27EE89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4322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1820"/>
                </a:solidFill>
              </a:defRPr>
            </a:pPr>
            <a:r>
              <a:rPr sz="1650" b="1" i="0">
                <a:solidFill>
                  <a:srgbClr val="101820"/>
                </a:solidFill>
              </a:rPr>
              <a:t>Worst EVE loss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F10BA0-FE52-4B4A-A881-3B66BE66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20AF37-DD55-4743-8E4D-631BA477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43300"/>
            <a:ext cx="2819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15.0% limit | within appetite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28B54A-228F-4953-8CB3-21FF683D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1820"/>
                </a:solidFill>
              </a:defRPr>
            </a:pPr>
            <a:r>
              <a:rPr sz="2100" b="1" i="0">
                <a:solidFill>
                  <a:srgbClr val="101820"/>
                </a:solidFill>
              </a:rPr>
              <a:t>Decision ask | Approve FX remediation, preserve the liquidity buffer, activate the rapid-run contingency plan, and validate TRY IRS sizing.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84C17C-4511-42C7-B781-25A5F848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6616F"/>
                </a:solidFill>
              </a:defRPr>
            </a:pPr>
            <a:r>
              <a:rPr sz="1275" b="0" i="0">
                <a:solidFill>
                  <a:srgbClr val="56616F"/>
                </a:solidFill>
              </a:rPr>
              <a:t>No hedge recommendation is pre-approved: every trade remains subject to ALCO, market-risk limits, collateral, legal and execution controls.</a:t>
            </a:r>
          </a:p>
        </p:txBody>
      </p:sp>
    </p:spTree>
    <p:extLst>
      <p:ext uri="{BB962C8B-B14F-4D97-AF65-F5344CB8AC3E}">
        <p14:creationId xmlns:p14="http://schemas.microsoft.com/office/powerpoint/2010/main" val="4973662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6019F3-5BFA-4AC6-B0BD-77C6C6F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1A671-9B89-4A15-BF77-5CC4CB39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7FFEB-50C4-4165-8209-016A2680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85948-6D81-416D-AA1C-AF3D9E8A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Sources: TCMB, BDDK, Basel Committee; Aurelia deterministic generator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3627D-992B-4D31-A5FB-68FCBD3B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FE81D-07F3-43E1-970C-FA60DD85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Evidence, assumptions and bank records stay separate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233D6-A37A-4716-A585-BD71B568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The architecture is designed for auditability, reproducibility and honest disclosure.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DC69D-0D4F-44F7-B2D6-84BEB127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24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3DAB3C-7F10-4382-BC67-4B419A91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01 | PUBLIC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A8CA25-3587-4F18-A4C4-9C77DDA5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259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E9F44F-B7EE-403F-9C54-27F2ECE5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590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TCMB policy rate and FX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BDDK sector benchmark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Basel IRRBB shock calibration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C424A-87FD-4DEB-998D-0C87C929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6616F"/>
                </a:solidFill>
              </a:defRPr>
            </a:pPr>
            <a:r>
              <a:rPr sz="1125" b="1" i="0">
                <a:solidFill>
                  <a:srgbClr val="56616F"/>
                </a:solidFill>
              </a:rPr>
              <a:t>Official observation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9192D-4F39-4F4A-B315-74BEA105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27660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 i="0">
                <a:solidFill>
                  <a:srgbClr val="167CA5"/>
                </a:solidFill>
              </a:defRPr>
            </a:pPr>
            <a:r>
              <a:rPr sz="2550" b="1" i="0">
                <a:solidFill>
                  <a:srgbClr val="167CA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A3F2A3-E83D-44AB-9A22-1117BF82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95500"/>
            <a:ext cx="3124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EC616-A1D7-48E4-A828-D94E34F0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43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02 | CONTROLLED BOOK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B0EDB-6139-4F1C-9F11-BC605ABE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59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55C665-DA07-4FBA-97CA-FED927D9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67050"/>
            <a:ext cx="2590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149 synthetic positions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1,156 contractual cash flows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Seeded curves and assumptions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6819EC-534A-40DC-9A5E-B0D4D0CA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386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6616F"/>
                </a:solidFill>
              </a:defRPr>
            </a:pPr>
            <a:r>
              <a:rPr sz="1125" b="1" i="0">
                <a:solidFill>
                  <a:srgbClr val="56616F"/>
                </a:solidFill>
              </a:rPr>
              <a:t>Deterministic synthetic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D4034C-5691-4857-AC86-414B0CC5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27660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 i="0">
                <a:solidFill>
                  <a:srgbClr val="167CA5"/>
                </a:solidFill>
              </a:defRPr>
            </a:pPr>
            <a:r>
              <a:rPr sz="2550" b="1" i="0">
                <a:solidFill>
                  <a:srgbClr val="167CA5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99A9D-EE84-49A2-BBC0-B40FB348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95500"/>
            <a:ext cx="3124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C024D7-0165-4776-9003-CBD4D5C3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03 | ALCO OUTPUTS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CCC1FE-BE36-440B-A2B8-F16E72C0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19400"/>
            <a:ext cx="259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03A992-FCD6-45DB-A000-3A06E236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67050"/>
            <a:ext cx="2590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EVE and NII sensitivity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Liquidity stress and survival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FX and hedge recommendations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E03354-8BA7-421F-AE52-3241D0EB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386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6616F"/>
                </a:solidFill>
              </a:defRPr>
            </a:pPr>
            <a:r>
              <a:rPr sz="1125" b="1" i="0">
                <a:solidFill>
                  <a:srgbClr val="56616F"/>
                </a:solidFill>
              </a:rPr>
              <a:t>Decision support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EA0525-6292-456C-B88A-21821A63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1820"/>
                </a:solidFill>
              </a:defRPr>
            </a:pPr>
            <a:r>
              <a:rPr sz="1650" b="1" i="0">
                <a:solidFill>
                  <a:srgbClr val="101820"/>
                </a:solidFill>
              </a:rPr>
              <a:t>Governance boundary | LCR and NSFR are labelled proxies; hedge outputs are recommendations; customer data, PII and confidential bank data are excluded.</a:t>
            </a:r>
          </a:p>
        </p:txBody>
      </p:sp>
    </p:spTree>
    <p:extLst>
      <p:ext uri="{BB962C8B-B14F-4D97-AF65-F5344CB8AC3E}">
        <p14:creationId xmlns:p14="http://schemas.microsoft.com/office/powerpoint/2010/main" val="4393582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DCD4C-3F89-4E48-80F3-0063E19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AD30D-2C6C-4240-9D0E-8894D8EE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23701-A952-4B1E-B832-486DCFD9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F1B88-B5E8-4916-BB64-5A092721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Source: data/demo/positions.csv; deterministic synthetic banking 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4E8939-4673-487B-8B1C-3E6F89C4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9A494-8D20-454C-9D94-0EB33378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A TRY 180bn balance sheet is deposit-funded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8AEEB-110A-4B54-882F-1D196B41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Deposits fund 76.5% of liabilities; loans and securities drive the duration profile.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85800" y="1962150"/>
          <a:ext xmlns:a="http://schemas.openxmlformats.org/drawingml/2006/main" cx="61912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e00ebbc87340f3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D9D11E-3C54-47B2-BE8D-1958EEA2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62150"/>
            <a:ext cx="40957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3128D-067B-4297-BD50-25F091D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3409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01820"/>
                </a:solidFill>
              </a:defRPr>
            </a:pPr>
            <a:r>
              <a:rPr sz="3150" b="1" i="0">
                <a:solidFill>
                  <a:srgbClr val="101820"/>
                </a:solidFill>
              </a:rPr>
              <a:t>TRY 120.5bn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B0B5E-FB4F-452E-BA36-F55C1CDB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43225"/>
            <a:ext cx="3409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B3D52"/>
                </a:solidFill>
              </a:defRPr>
            </a:pPr>
            <a:r>
              <a:rPr sz="1650" b="1" i="0">
                <a:solidFill>
                  <a:srgbClr val="0B3D52"/>
                </a:solidFill>
              </a:rPr>
              <a:t>customer deposits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1A62A-AF90-4A5A-B991-4899160D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48050"/>
            <a:ext cx="340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91F74-DFCE-42DF-B890-752F0A7B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76650"/>
            <a:ext cx="34099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01820"/>
                </a:solidFill>
              </a:defRPr>
            </a:pPr>
            <a:r>
              <a:rPr sz="1725" b="0" i="0">
                <a:solidFill>
                  <a:srgbClr val="101820"/>
                </a:solidFill>
              </a:rPr>
              <a:t>Tier 1 capital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101820"/>
                </a:solidFill>
              </a:defRPr>
            </a:pPr>
            <a:r>
              <a:rPr sz="1725" b="0" i="0">
                <a:solidFill>
                  <a:srgbClr val="101820"/>
                </a:solidFill>
              </a:rPr>
              <a:t>TRY 22.5bn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101820"/>
                </a:solidFill>
              </a:defRPr>
            </a:pPr>
            <a:r>
              <a:rPr sz="1725" b="0" i="0">
                <a:solidFill>
                  <a:srgbClr val="101820"/>
                </a:solidFill>
              </a:rPr>
              <a:t>Liabilities / assets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101820"/>
                </a:solidFill>
              </a:defRPr>
            </a:pPr>
            <a:r>
              <a:rPr sz="1725" b="0" i="0">
                <a:solidFill>
                  <a:srgbClr val="101820"/>
                </a:solidFill>
              </a:rPr>
              <a:t>87.5%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158F0-CBC8-42A0-B409-2E22D0E1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Implication | Funding is stable in the base case, but the asset duration and non-maturity deposit behavior must be managed together.</a:t>
            </a:r>
          </a:p>
        </p:txBody>
      </p:sp>
    </p:spTree>
    <p:extLst>
      <p:ext uri="{BB962C8B-B14F-4D97-AF65-F5344CB8AC3E}">
        <p14:creationId xmlns:p14="http://schemas.microsoft.com/office/powerpoint/2010/main" val="12422322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CB820-A5CF-4F66-8A13-72D4BBED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848C6-7120-4DC6-9730-B1E5F262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A5E21-B37D-47E3-810F-2304A4DB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6413B9-D812-4591-8942-E2DCA67D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Source: artifacts/results/repricing_gap.csv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52B26-0CCA-4C79-8661-E23CDA0C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14E40-4609-4531-8A04-815C9D79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First-year repricing gaps are liability-sensitive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F28F8-2BB8-481C-9D97-CFD58288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TRY gaps are negative through 1 year before long-dated assets restore cumulative sensitivity.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85800" y="1885950"/>
          <a:ext xmlns:a="http://schemas.openxmlformats.org/drawingml/2006/main" cx="7524750" cy="3867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1f61d49045497d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2521B-26A3-4233-9EDC-DB1EAC10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85950"/>
            <a:ext cx="28384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56993-FBE0-45A2-8766-68FEFC9A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09800"/>
            <a:ext cx="2228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B3D52"/>
                </a:solidFill>
              </a:defRPr>
            </a:pPr>
            <a:r>
              <a:rPr sz="1200" b="1" i="0">
                <a:solidFill>
                  <a:srgbClr val="0B3D52"/>
                </a:solidFill>
              </a:rPr>
              <a:t>WHAT IT MEANS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7F53-AF36-4B6E-AE1C-36ECF7B2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62250"/>
            <a:ext cx="22288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1820"/>
                </a:solidFill>
              </a:defRPr>
            </a:pPr>
            <a:r>
              <a:rPr sz="1650" b="1" i="0">
                <a:solidFill>
                  <a:srgbClr val="101820"/>
                </a:solidFill>
              </a:rPr>
              <a:t>Rates falling can compress NII because liabilities reprice faster than assets.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4C026-7CAA-4B8F-83FC-1599465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43350"/>
            <a:ext cx="2228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9EE639-F08C-41D6-822B-D31F7266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2228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Action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Validate deposit betas and repricing lags before changing pricing or hedge mix.</a:t>
            </a:r>
          </a:p>
        </p:txBody>
      </p:sp>
    </p:spTree>
    <p:extLst>
      <p:ext uri="{BB962C8B-B14F-4D97-AF65-F5344CB8AC3E}">
        <p14:creationId xmlns:p14="http://schemas.microsoft.com/office/powerpoint/2010/main" val="9928009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7DD8E-38DC-4B3E-9D72-B9A30AB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25263-84B0-4270-8499-79FB395D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9A42A-1434-4F7C-A655-34F8ED08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B60D4-745A-4454-BE91-C65BBFFC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Sources: Basel d578 shock calibration; artifacts/results/eve.csv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2EB1F5-01EA-42AE-8914-09012C82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1D33D-9C30-41C2-A6C6-CA1A5115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Parallel-up is the binding EVE shock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E3A3C-9C81-4BC4-866F-3E345A00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The worst loss is TRY 3.09bn, equal to 13.7% of Tier 1 capital versus a 15.0% limit.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85800" y="1885950"/>
          <a:ext xmlns:a="http://schemas.openxmlformats.org/drawingml/2006/main" cx="7524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e966b4c72a4c7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C7D37-F8C9-48FA-BAE3-2AD04BC9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85950"/>
            <a:ext cx="28384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63B64-6E14-411E-9A49-0460C38D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52650"/>
            <a:ext cx="2266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F97316"/>
                </a:solidFill>
              </a:defRPr>
            </a:pPr>
            <a:r>
              <a:rPr sz="3450" b="1" i="0">
                <a:solidFill>
                  <a:srgbClr val="F97316"/>
                </a:solidFill>
              </a:rPr>
              <a:t>13.7%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2CEE92-5F92-41B7-A398-9BE527D6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05100"/>
            <a:ext cx="2266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</a:defRPr>
            </a:pPr>
            <a:r>
              <a:rPr sz="1425" b="1" i="0">
                <a:solidFill>
                  <a:srgbClr val="101820"/>
                </a:solidFill>
              </a:rPr>
              <a:t>worst EVE loss</a:t>
            </a:r>
          </a:p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</a:defRPr>
            </a:pPr>
            <a:r>
              <a:rPr sz="1425" b="1" i="0">
                <a:solidFill>
                  <a:srgbClr val="101820"/>
                </a:solidFill>
              </a:rPr>
              <a:t>/ Tier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EF949-2C28-43E0-A704-4498E7BE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43350"/>
            <a:ext cx="28384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F08DA1-4950-4970-A6B5-B8C0BDD7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100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01820"/>
                </a:solidFill>
              </a:defRPr>
            </a:pPr>
            <a:r>
              <a:rPr sz="2550" b="1" i="0">
                <a:solidFill>
                  <a:srgbClr val="101820"/>
                </a:solidFill>
              </a:rPr>
              <a:t>TRY 22.5bn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A822C-14BA-4B0E-91C5-AC408CFA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Tier 1 capital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15.0% internal EVE limit</a:t>
            </a:r>
          </a:p>
        </p:txBody>
      </p:sp>
    </p:spTree>
    <p:extLst>
      <p:ext uri="{BB962C8B-B14F-4D97-AF65-F5344CB8AC3E}">
        <p14:creationId xmlns:p14="http://schemas.microsoft.com/office/powerpoint/2010/main" val="2495513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4AB48-9AE7-45A2-A323-28B129C7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65F56-B18C-48A1-8DA1-78FEF804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8921B-0723-42B3-8A1B-72332FFA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05BD4-34E0-4E36-87CB-6FDACE8F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Source: artifacts/results/nii.csv; internal 12% limit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70450-2599-40AF-A115-4AD2A1A6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99292-6A8C-425A-8FD7-A40854B0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NII downside remains inside appetite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8A4CF-2B37-4CF4-BA5C-29174F2D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Parallel-down reduces 12-month NII by TRY 1.32bn, or 5.8%, against a 12.0% limit.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85800" y="2019300"/>
          <a:ext xmlns:a="http://schemas.openxmlformats.org/drawingml/2006/main" cx="6191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f6d60ee55c430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74869A-DEE4-4C0E-84A6-94A2C60D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76450"/>
            <a:ext cx="4019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1820"/>
                </a:solidFill>
              </a:defRPr>
            </a:pPr>
            <a:r>
              <a:rPr sz="2100" b="1" i="0">
                <a:solidFill>
                  <a:srgbClr val="101820"/>
                </a:solidFill>
              </a:rPr>
              <a:t>The limit is comfortable; the behavior assumption is not.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6D659-BBE7-40F1-B922-459C8062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14650"/>
            <a:ext cx="4019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7290A-EEB0-4B93-8AE7-60512067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62300"/>
            <a:ext cx="40195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NII depends 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deposit beta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repricing lag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rate floors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customer migration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6F258-6670-46EE-8746-D6669074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91100"/>
            <a:ext cx="4019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Management response | validate behavior before increasing hedge volume.</a:t>
            </a:r>
          </a:p>
        </p:txBody>
      </p:sp>
    </p:spTree>
    <p:extLst>
      <p:ext uri="{BB962C8B-B14F-4D97-AF65-F5344CB8AC3E}">
        <p14:creationId xmlns:p14="http://schemas.microsoft.com/office/powerpoint/2010/main" val="6557629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638342-C891-476E-8785-7725A6FA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23E7E4-F5C2-43E2-90F7-470612A3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11B8A-821C-4A30-8279-A4978A30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8A402-2920-4746-AFAB-541DDAE5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Sources: BIS LCR/NSFR framework; artifacts/results/liquidity.csv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FE6CDA-092C-4ABD-B466-4E5D621C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A318C-F457-4D23-9214-A7F83104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Rapid digital run exposes a seven-day survival horizon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76737-2853-439D-9B08-7B3A5A7F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Front-loaded outflows and HQLA stress drive the proxy to 78.1% and exhaust the buffer inside one week.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85800" y="1924050"/>
          <a:ext xmlns:a="http://schemas.openxmlformats.org/drawingml/2006/main" cx="67627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e4425024ca440b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DE9C2-986D-490B-90A9-B9D3638A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24050"/>
            <a:ext cx="35433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A1B3D1-24A2-45A7-AE88-F570D17F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F97316"/>
                </a:solidFill>
              </a:defRPr>
            </a:pPr>
            <a:r>
              <a:rPr sz="3450" b="1" i="0">
                <a:solidFill>
                  <a:srgbClr val="F97316"/>
                </a:solidFill>
              </a:rPr>
              <a:t>78.1%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78ACB-9B79-475D-A50B-064E93C4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rapid-run LCR proxy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2C995A-63C9-4AD5-9CDC-4893CB96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48100"/>
            <a:ext cx="35433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EB699E-1FA8-4548-AEC1-10DF5555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338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7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009E35-256B-41FE-B155-A8F2C1B0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67250"/>
            <a:ext cx="2895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6616F"/>
                </a:solidFill>
              </a:defRPr>
            </a:pPr>
            <a:r>
              <a:rPr sz="1425" b="0" i="0">
                <a:solidFill>
                  <a:srgbClr val="56616F"/>
                </a:solidFill>
              </a:rPr>
              <a:t>rapid-run survival horizon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56616F"/>
                </a:solidFill>
              </a:defRPr>
            </a:pPr>
            <a:r>
              <a:rPr sz="1425" b="0" i="0">
                <a:solidFill>
                  <a:srgbClr val="56616F"/>
                </a:solidFill>
              </a:rPr>
              <a:t>HQLA loss: TRY 1.46bn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EBDD0-D696-4311-B474-4BDC3C4C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Management action | pre-position funding, protect unencumbered HQLA and rehearse a seven-day contingency response.</a:t>
            </a:r>
          </a:p>
        </p:txBody>
      </p:sp>
    </p:spTree>
    <p:extLst>
      <p:ext uri="{BB962C8B-B14F-4D97-AF65-F5344CB8AC3E}">
        <p14:creationId xmlns:p14="http://schemas.microsoft.com/office/powerpoint/2010/main" val="15713371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C4116-22F3-410E-8C43-8A0B9822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2A866-7527-4483-89A5-0EEE5654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759765-F59F-451E-8CEE-5B29F823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9D7AD-96A3-4B4D-9564-1C4EF2A2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Source: artifacts/results/fx.csv; internal 20% aggregate limit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618EFD-8EAE-4BAD-A6E6-4214B8B1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7714A-3FAD-40DA-9F7D-11F2C9AD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FX is the only formal limit breach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27388-D610-4D3D-9FA9-7D35EEAC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A TRY 7.5bn aggregate short position equals 33.3% of equity; USD is the dominant driver.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85800" y="2019300"/>
          <a:ext xmlns:a="http://schemas.openxmlformats.org/drawingml/2006/main" cx="60960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c0a2d8be1d4631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DC6B0E-8E61-46B7-949A-534BD07B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19300"/>
            <a:ext cx="41719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D7C961-8923-4AD3-8229-F941D0DC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43150"/>
            <a:ext cx="3448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F97316"/>
                </a:solidFill>
              </a:defRPr>
            </a:pPr>
            <a:r>
              <a:rPr sz="3000" b="1" i="0">
                <a:solidFill>
                  <a:srgbClr val="F97316"/>
                </a:solidFill>
              </a:rPr>
              <a:t>33.3% vs 20.0%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6AC6D-0480-4074-854B-6E5EB3B9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90850"/>
            <a:ext cx="3448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1820"/>
                </a:solidFill>
              </a:defRPr>
            </a:pPr>
            <a:r>
              <a:rPr sz="1725" b="1" i="0">
                <a:solidFill>
                  <a:srgbClr val="101820"/>
                </a:solidFill>
              </a:rPr>
              <a:t>13.3ppt above limit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2E329B-4BDE-4182-937D-B9588D30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576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4497F1-0D03-4210-9506-E4B0D6EB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86200"/>
            <a:ext cx="3448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Recommended target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80% exposure reduction</a:t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via FX swap or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83995-2856-4975-9522-A6388445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1820"/>
                </a:solidFill>
              </a:defRPr>
            </a:pPr>
            <a:r>
              <a:rPr sz="1950" b="1" i="0">
                <a:solidFill>
                  <a:srgbClr val="101820"/>
                </a:solidFill>
              </a:rPr>
              <a:t>A 20% FX appreciation would create a TRY 1.5bn loss before the hedge overlay.</a:t>
            </a:r>
          </a:p>
        </p:txBody>
      </p:sp>
    </p:spTree>
    <p:extLst>
      <p:ext uri="{BB962C8B-B14F-4D97-AF65-F5344CB8AC3E}">
        <p14:creationId xmlns:p14="http://schemas.microsoft.com/office/powerpoint/2010/main" val="8817916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A6D4E7-BFE4-4D7F-95EC-F66AB831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A64CB8-2385-4357-A7AC-E4A1D9EE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35661-8716-4B45-B0C5-72976878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8D295-3886-4EBA-9A6E-CB9E5BFF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Source: artifacts/results/hedges.csv; all recommendations require ALCO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FF770F-E198-4141-8EA8-A38A68E6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2BF1E-CA55-4119-A179-3AD873C8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Two overlays address the largest exposures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0E51A-F81E-4EEC-8B7B-51CD3DD9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The targets reduce risk without presenting model output as an executable trade instruction.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EFB62C-7723-41A0-A267-4E1677A8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FX OPEN 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ABB53-CFF6-41C3-86F8-D4BD8A19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752671-D187-4A89-93F6-BE17CCEF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97316"/>
                </a:solidFill>
              </a:defRPr>
            </a:pPr>
            <a:r>
              <a:rPr sz="2550" b="1" i="0">
                <a:solidFill>
                  <a:srgbClr val="F97316"/>
                </a:solidFill>
              </a:rPr>
              <a:t>TRY 7.5bn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86895-BC4F-4AA5-AAEA-F147DCC9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current short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E37A0-88AE-4D04-A1EA-ECE0C1E9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6225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 i="0">
                <a:solidFill>
                  <a:srgbClr val="167CA5"/>
                </a:solidFill>
              </a:defRPr>
            </a:pPr>
            <a:r>
              <a:rPr sz="2550" b="1" i="0">
                <a:solidFill>
                  <a:srgbClr val="167CA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F7E3CF-8CA4-4EC8-A529-FDE906C4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86050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01820"/>
                </a:solidFill>
              </a:defRPr>
            </a:pPr>
            <a:r>
              <a:rPr sz="2550" b="1" i="0">
                <a:solidFill>
                  <a:srgbClr val="101820"/>
                </a:solidFill>
              </a:rPr>
              <a:t>TRY 1.5bn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34B831-8A79-4E08-B3AA-C73B0D22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0515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target short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813A2-DF7A-48C3-8843-D98BC1A7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47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Instrument | FX swap or forward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Direction | Buy FX, sell TRY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Target | 80% reduction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82750C-944C-474F-9C5F-69A8F5E9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62150"/>
            <a:ext cx="4933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TRY DV01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4090D8-B63D-418B-A992-0E7CBBAA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476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8661B-2870-4013-8E5E-9A33E3F8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97316"/>
                </a:solidFill>
              </a:defRPr>
            </a:pPr>
            <a:r>
              <a:rPr sz="2550" b="1" i="0">
                <a:solidFill>
                  <a:srgbClr val="F97316"/>
                </a:solidFill>
              </a:rPr>
              <a:t>-8.25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C182B-16F8-4869-92C5-C39059FE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TRY mn / bp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287AF-85B1-4D4D-90E9-D8E65A2D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 i="0">
                <a:solidFill>
                  <a:srgbClr val="167CA5"/>
                </a:solidFill>
              </a:defRPr>
            </a:pPr>
            <a:r>
              <a:rPr sz="2550" b="1" i="0">
                <a:solidFill>
                  <a:srgbClr val="167CA5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2D8622-EC36-4F89-9C61-B93B3514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86050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01820"/>
                </a:solidFill>
              </a:defRPr>
            </a:pPr>
            <a:r>
              <a:rPr sz="2550" b="1" i="0">
                <a:solidFill>
                  <a:srgbClr val="101820"/>
                </a:solidFill>
              </a:rPr>
              <a:t>-4.13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E4706F-695A-4BD2-8F77-6DC3A0CE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0515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6616F"/>
                </a:solidFill>
              </a:defRPr>
            </a:pPr>
            <a:r>
              <a:rPr sz="1200" b="0" i="0">
                <a:solidFill>
                  <a:srgbClr val="56616F"/>
                </a:solidFill>
              </a:rPr>
              <a:t>target DV01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2CF8BF-7826-462D-B957-25A51624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447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Instrument | Plain-vanilla IRS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Direction | Pay fixed, receive float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Indicative notional | TRY 10.3bn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C2C3EE-9CC9-4B64-9A33-349C9330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0D0211-E943-43C4-A889-78C7BBF9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1820"/>
                </a:solidFill>
              </a:defRPr>
            </a:pPr>
            <a:r>
              <a:rPr sz="1725" b="1" i="0">
                <a:solidFill>
                  <a:srgbClr val="101820"/>
                </a:solidFill>
              </a:rPr>
              <a:t>Execution gate | ALCO approval → independent price validation → counterparty and collateral checks → trade capture and post-trade limit validation</a:t>
            </a:r>
          </a:p>
        </p:txBody>
      </p:sp>
    </p:spTree>
    <p:extLst>
      <p:ext uri="{BB962C8B-B14F-4D97-AF65-F5344CB8AC3E}">
        <p14:creationId xmlns:p14="http://schemas.microsoft.com/office/powerpoint/2010/main" val="5298052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28CD3D-94DC-4E0B-AD97-8C8B4F0D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7D718-5781-4862-B3BF-890FD1EE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E6E27-E40D-4216-A338-F8080163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5F4F0-008F-4374-8C3F-A2E0747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Sources: test suite, control outputs and CI configuration in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BCFC1-0844-44F3-BE68-ACC94400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5C7B3-A8AA-418A-821A-18743528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Controls surface risk without hiding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D79B1-34DA-43D8-9946-7929E123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Model integrity is green; business risk remains visible and actionable.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63D08-A866-4524-98DE-710FD0DD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CONTROL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49CF1-5C59-4A34-B747-11E63FAB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771F5A-E557-46BB-A114-38D2E4AF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431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</a:defRPr>
            </a:pPr>
            <a:r>
              <a:rPr sz="1425" b="1" i="0">
                <a:solidFill>
                  <a:srgbClr val="101820"/>
                </a:solidFill>
              </a:rPr>
              <a:t>Data quality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0E30A-CF47-4423-9B63-27BAE5C9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431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10 /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5B42F-EA61-43D5-83A6-6FDC01D1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43175"/>
            <a:ext cx="1257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15803D"/>
                </a:solidFill>
              </a:defRPr>
            </a:pPr>
            <a:r>
              <a:rPr sz="1200" b="1" i="0">
                <a:solidFill>
                  <a:srgbClr val="15803D"/>
                </a:solidFill>
              </a:rPr>
              <a:t>PASS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25DA2-D015-4734-99B3-6EC8BFFA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</a:defRPr>
            </a:pPr>
            <a:r>
              <a:rPr sz="1425" b="1" i="0">
                <a:solidFill>
                  <a:srgbClr val="101820"/>
                </a:solidFill>
              </a:rPr>
              <a:t>Risk limits evaluated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0DB67-967C-4C5D-B9EA-9E4CAC3A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3372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7 / 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F6ADD-3639-48CA-BD6F-F68289D2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33725"/>
            <a:ext cx="1257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15803D"/>
                </a:solidFill>
              </a:defRPr>
            </a:pPr>
            <a:r>
              <a:rPr sz="1200" b="1" i="0">
                <a:solidFill>
                  <a:srgbClr val="15803D"/>
                </a:solidFill>
              </a:rPr>
              <a:t>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035A9-1368-4212-9F98-483DD344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843B2-7042-4A81-87E0-D10C5BFD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242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</a:defRPr>
            </a:pPr>
            <a:r>
              <a:rPr sz="1425" b="1" i="0">
                <a:solidFill>
                  <a:srgbClr val="101820"/>
                </a:solidFill>
              </a:rPr>
              <a:t>Formal limit breaches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473DBB-89FF-413A-AD51-E74CCE98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242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48182C-BAFE-49BE-A092-6DDE1552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24275"/>
            <a:ext cx="1257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F97316"/>
                </a:solidFill>
              </a:defRPr>
            </a:pPr>
            <a:r>
              <a:rPr sz="1200" b="1" i="0">
                <a:solidFill>
                  <a:srgbClr val="F97316"/>
                </a:solidFill>
              </a:rPr>
              <a:t>SURFACED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ADFCAA-8272-444D-9BCF-C8402C02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148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</a:defRPr>
            </a:pPr>
            <a:r>
              <a:rPr sz="1425" b="1" i="0">
                <a:solidFill>
                  <a:srgbClr val="101820"/>
                </a:solidFill>
              </a:rPr>
              <a:t>Unit tests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F5BF75-9EA1-4712-BCAB-16E6CE67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1482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46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A59E11-D723-40A8-BBBF-A70AAE7B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14825"/>
            <a:ext cx="1257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15803D"/>
                </a:solidFill>
              </a:defRPr>
            </a:pPr>
            <a:r>
              <a:rPr sz="1200" b="1" i="0">
                <a:solidFill>
                  <a:srgbClr val="15803D"/>
                </a:solidFill>
              </a:rPr>
              <a:t>PASS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0F96E6-B081-4343-B80D-4012C002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26232F-24EE-4C00-804B-AE326D4B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053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01820"/>
                </a:solidFill>
              </a:defRPr>
            </a:pPr>
            <a:r>
              <a:rPr sz="1425" b="1" i="0">
                <a:solidFill>
                  <a:srgbClr val="101820"/>
                </a:solidFill>
              </a:rPr>
              <a:t>Line coverage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5FB247-14C2-436C-9480-7B7FB8FF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05375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93.88%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EB9B9C-381E-4BF8-B727-DFCBC295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05375"/>
            <a:ext cx="1257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15803D"/>
                </a:solidFill>
              </a:defRPr>
            </a:pPr>
            <a:r>
              <a:rPr sz="1200" b="1" i="0">
                <a:solidFill>
                  <a:srgbClr val="15803D"/>
                </a:solidFill>
              </a:rPr>
              <a:t>ABOVE 90%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B0568B-9813-4585-A016-3AE91B97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43100"/>
            <a:ext cx="43434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6ADD17-9443-4EDB-8C28-90E986E6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66950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3D52"/>
                </a:solidFill>
              </a:defRPr>
            </a:pPr>
            <a:r>
              <a:rPr sz="1350" b="1" i="0">
                <a:solidFill>
                  <a:srgbClr val="0B3D52"/>
                </a:solidFill>
              </a:rPr>
              <a:t>ENGINEERING GUARDRAILS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441754-788E-4C9A-A66B-6DE8B654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33700"/>
            <a:ext cx="36576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deterministic data seed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configuration-driven limits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checksum manifest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Ruff + Pytest + coverage gate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 i="0">
                <a:solidFill>
                  <a:srgbClr val="101820"/>
                </a:solidFill>
              </a:defRPr>
            </a:pPr>
            <a:r>
              <a:rPr sz="1650" b="0" i="0">
                <a:solidFill>
                  <a:srgbClr val="101820"/>
                </a:solidFill>
              </a:rPr>
              <a:t>• GitHub Actions + CodeQL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57D96A-4B08-499A-974D-A9CC46B5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1820"/>
                </a:solidFill>
              </a:defRPr>
            </a:pPr>
            <a:r>
              <a:rPr sz="1500" b="1" i="0">
                <a:solidFill>
                  <a:srgbClr val="101820"/>
                </a:solidFill>
              </a:rPr>
              <a:t>Control principle | A red risk indicator is evidence that the control tower is working—not a reason to paint the dashboard green.</a:t>
            </a:r>
          </a:p>
        </p:txBody>
      </p:sp>
    </p:spTree>
    <p:extLst>
      <p:ext uri="{BB962C8B-B14F-4D97-AF65-F5344CB8AC3E}">
        <p14:creationId xmlns:p14="http://schemas.microsoft.com/office/powerpoint/2010/main" val="12396922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6FB123-D4C7-4644-B450-C64E7BBB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AURELIA BANK | ALCO DECISION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819BE-89B6-43C9-9404-500AADE0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 i="0">
                <a:solidFill>
                  <a:srgbClr val="56616F"/>
                </a:solidFill>
              </a:defRPr>
            </a:pPr>
            <a:r>
              <a:rPr sz="975" b="1" i="0">
                <a:solidFill>
                  <a:srgbClr val="56616F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FFC93-3BA4-4A57-BEF5-75DA1829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99A36-923F-495B-A2FA-DB844943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Decision requested from ALCO | owners and dates to be confirmed in meeting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F895B-6C16-4198-8104-AAA626A5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5151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6616F"/>
                </a:solidFill>
              </a:defRPr>
            </a:pPr>
            <a:r>
              <a:rPr sz="825" b="0" i="0">
                <a:solidFill>
                  <a:srgbClr val="56616F"/>
                </a:solidFill>
              </a:rPr>
              <a:t>19 AUG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256F94-FA2D-44D8-8877-2D435711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01820"/>
                </a:solidFill>
              </a:defRPr>
            </a:pPr>
            <a:r>
              <a:rPr sz="3000" b="1" i="0">
                <a:solidFill>
                  <a:srgbClr val="101820"/>
                </a:solidFill>
              </a:rPr>
              <a:t>Approve a controlled remediation sequence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80949F-1870-4DB4-9769-49EDF3AF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6616F"/>
                </a:solidFill>
              </a:defRPr>
            </a:pPr>
            <a:r>
              <a:rPr sz="1350" b="0" i="0">
                <a:solidFill>
                  <a:srgbClr val="56616F"/>
                </a:solidFill>
              </a:rPr>
              <a:t>Three decisions convert the analysis into accountable action without bypassing governance.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77206-29A2-4089-8BD1-48BF2FBD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14650"/>
            <a:ext cx="9982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581E5-D7ED-4CD6-A87C-27DB77F9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8003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F232D-FB98-4AE7-85FC-824535B8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526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56616F"/>
                </a:solidFill>
              </a:defRPr>
            </a:pPr>
            <a:r>
              <a:rPr sz="1200" b="1" i="0">
                <a:solidFill>
                  <a:srgbClr val="56616F"/>
                </a:solidFill>
              </a:rPr>
              <a:t>0–5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0A2E5-F951-465C-A95F-64F3F818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147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01820"/>
                </a:solidFill>
              </a:defRPr>
            </a:pPr>
            <a:r>
              <a:rPr sz="1875" b="1" i="0">
                <a:solidFill>
                  <a:srgbClr val="101820"/>
                </a:solidFill>
              </a:rPr>
              <a:t>Hedge FX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F58618-70C2-4AC5-8C21-6C661C02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4810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Approve 80% target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Set execution limits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Confirm counterparties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736537-EB26-45C1-B622-8F65651C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8003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EC4E1-5AE9-4E42-9F17-041129E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26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56616F"/>
                </a:solidFill>
              </a:defRPr>
            </a:pPr>
            <a:r>
              <a:rPr sz="1200" b="1" i="0">
                <a:solidFill>
                  <a:srgbClr val="56616F"/>
                </a:solidFill>
              </a:rPr>
              <a:t>5–15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764D3-0899-48A7-BBE5-92E2DBC9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3147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01820"/>
                </a:solidFill>
              </a:defRPr>
            </a:pPr>
            <a:r>
              <a:rPr sz="1875" b="1" i="0">
                <a:solidFill>
                  <a:srgbClr val="101820"/>
                </a:solidFill>
              </a:rPr>
              <a:t>Activate rapid-run plan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B101A0-44E0-4B52-89D4-15268968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84810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Retain HQLA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Pre-position funding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Rehearse seven-day response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168CF8-2E53-431E-98BF-641FF16C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800350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C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51C2A7-0814-446E-854F-250605B6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56616F"/>
                </a:solidFill>
              </a:defRPr>
            </a:pPr>
            <a:r>
              <a:rPr sz="1200" b="1" i="0">
                <a:solidFill>
                  <a:srgbClr val="56616F"/>
                </a:solidFill>
              </a:rPr>
              <a:t>15–30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17B105-9D0A-4C3F-804E-EE094324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147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01820"/>
                </a:solidFill>
              </a:defRPr>
            </a:pPr>
            <a:r>
              <a:rPr sz="1875" b="1" i="0">
                <a:solidFill>
                  <a:srgbClr val="101820"/>
                </a:solidFill>
              </a:rPr>
              <a:t>Validate TRY IRS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72872A-0BB2-4581-8F1B-535C3B93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4810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Validate DV01 mapping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Independent pricing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101820"/>
                </a:solidFill>
              </a:defRPr>
            </a:pPr>
            <a:r>
              <a:rPr sz="1500" b="0" i="0">
                <a:solidFill>
                  <a:srgbClr val="101820"/>
                </a:solidFill>
              </a:rPr>
              <a:t>Approve or resize trade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DCB766-A024-4563-95AB-AEDE10EB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AABACF-B6A8-4287-8013-3D7524B9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81650"/>
            <a:ext cx="1021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DECISION | Approve the sequence, assign owners, activate rapid-run readiness and require post-trade risk revalidation.</a:t>
            </a:r>
          </a:p>
        </p:txBody>
      </p:sp>
    </p:spTree>
    <p:extLst>
      <p:ext uri="{BB962C8B-B14F-4D97-AF65-F5344CB8AC3E}">
        <p14:creationId xmlns:p14="http://schemas.microsoft.com/office/powerpoint/2010/main" val="6874524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2026-08-21T11:48:59.0550000Z</dcterms:created>
  <dcterms:modified xsi:type="dcterms:W3CDTF">2026-08-21T11:48:59.0550000Z</dcterms:modified>
</coreProperties>
</file>