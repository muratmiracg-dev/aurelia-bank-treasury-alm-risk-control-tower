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b4453455fe423c" /><Relationship Type="http://schemas.openxmlformats.org/officeDocument/2006/relationships/extended-properties" Target="/docProps/app.xml" Id="R06a904e1f0d14232" /><Relationship Type="http://schemas.openxmlformats.org/officeDocument/2006/relationships/officeDocument" Target="/ppt/presentation.xml" Id="Rc765ede759fe43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bf010aeee04786"/>
  </p:sldMasterIdLst>
  <p:notesMasterIdLst>
    <p:notesMasterId xmlns:r="http://schemas.openxmlformats.org/officeDocument/2006/relationships" r:id="Rf65c5ba3d62f42aa"/>
  </p:notesMasterIdLst>
  <p:sldIdLst>
    <p:sldId xmlns:r="http://schemas.openxmlformats.org/officeDocument/2006/relationships" id="256" r:id="Rfff94b1676394775"/>
    <p:sldId xmlns:r="http://schemas.openxmlformats.org/officeDocument/2006/relationships" id="257" r:id="R1c7041bea51343ac"/>
    <p:sldId xmlns:r="http://schemas.openxmlformats.org/officeDocument/2006/relationships" id="258" r:id="R76b489be907d4585"/>
    <p:sldId xmlns:r="http://schemas.openxmlformats.org/officeDocument/2006/relationships" id="259" r:id="Rea645cfbc4b2446b"/>
    <p:sldId xmlns:r="http://schemas.openxmlformats.org/officeDocument/2006/relationships" id="260" r:id="Rf82b9bac9b614900"/>
    <p:sldId xmlns:r="http://schemas.openxmlformats.org/officeDocument/2006/relationships" id="261" r:id="R0ad7e86bd09d4bdc"/>
    <p:sldId xmlns:r="http://schemas.openxmlformats.org/officeDocument/2006/relationships" id="262" r:id="R5af340d451e9467e"/>
    <p:sldId xmlns:r="http://schemas.openxmlformats.org/officeDocument/2006/relationships" id="263" r:id="R6630b06da5764727"/>
    <p:sldId xmlns:r="http://schemas.openxmlformats.org/officeDocument/2006/relationships" id="264" r:id="Rafcf3656c79148cd"/>
    <p:sldId xmlns:r="http://schemas.openxmlformats.org/officeDocument/2006/relationships" id="265" r:id="R85e2eb2553264485"/>
    <p:sldId xmlns:r="http://schemas.openxmlformats.org/officeDocument/2006/relationships" id="266" r:id="R961f9fa1333649f0"/>
    <p:sldId xmlns:r="http://schemas.openxmlformats.org/officeDocument/2006/relationships" id="267" r:id="R2b94ee4ce58547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55bd5110154849" /><Relationship Type="http://schemas.openxmlformats.org/officeDocument/2006/relationships/slideMaster" Target="/ppt/slideMasters/slideMaster1.xml" Id="R62bf010aeee04786" /><Relationship Type="http://schemas.openxmlformats.org/officeDocument/2006/relationships/notesMaster" Target="/ppt/notesMasters/notesMaster1.xml" Id="Rf65c5ba3d62f42aa" /><Relationship Type="http://schemas.openxmlformats.org/officeDocument/2006/relationships/presProps" Target="/ppt/presProps.xml" Id="Re430467097e14ef0" /><Relationship Type="http://schemas.openxmlformats.org/officeDocument/2006/relationships/tableStyles" Target="/ppt/tableStyles.xml" Id="R73eb78faeb714371" /><Relationship Type="http://schemas.openxmlformats.org/officeDocument/2006/relationships/slide" Target="/ppt/slides/slide1.xml" Id="Rfff94b1676394775" /><Relationship Type="http://schemas.openxmlformats.org/officeDocument/2006/relationships/slide" Target="/ppt/slides/slide2.xml" Id="R1c7041bea51343ac" /><Relationship Type="http://schemas.openxmlformats.org/officeDocument/2006/relationships/slide" Target="/ppt/slides/slide3.xml" Id="R76b489be907d4585" /><Relationship Type="http://schemas.openxmlformats.org/officeDocument/2006/relationships/slide" Target="/ppt/slides/slide4.xml" Id="Rea645cfbc4b2446b" /><Relationship Type="http://schemas.openxmlformats.org/officeDocument/2006/relationships/slide" Target="/ppt/slides/slide5.xml" Id="Rf82b9bac9b614900" /><Relationship Type="http://schemas.openxmlformats.org/officeDocument/2006/relationships/slide" Target="/ppt/slides/slide6.xml" Id="R0ad7e86bd09d4bdc" /><Relationship Type="http://schemas.openxmlformats.org/officeDocument/2006/relationships/slide" Target="/ppt/slides/slide7.xml" Id="R5af340d451e9467e" /><Relationship Type="http://schemas.openxmlformats.org/officeDocument/2006/relationships/slide" Target="/ppt/slides/slide8.xml" Id="R6630b06da5764727" /><Relationship Type="http://schemas.openxmlformats.org/officeDocument/2006/relationships/slide" Target="/ppt/slides/slide9.xml" Id="Rafcf3656c79148cd" /><Relationship Type="http://schemas.openxmlformats.org/officeDocument/2006/relationships/slide" Target="/ppt/slides/slide10.xml" Id="R85e2eb2553264485" /><Relationship Type="http://schemas.openxmlformats.org/officeDocument/2006/relationships/slide" Target="/ppt/slides/slide11.xml" Id="R961f9fa1333649f0" /><Relationship Type="http://schemas.openxmlformats.org/officeDocument/2006/relationships/slide" Target="/ppt/slides/slide12.xml" Id="R2b94ee4ce58547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6ee3746e2745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f4a462a68a4891" /><Relationship Type="http://schemas.openxmlformats.org/officeDocument/2006/relationships/notesMaster" Target="/ppt/notesMasters/notesMaster1.xml" Id="Rc684e51eee4d40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e56dcf17d74b2a" /><Relationship Type="http://schemas.openxmlformats.org/officeDocument/2006/relationships/notesMaster" Target="/ppt/notesMasters/notesMaster1.xml" Id="R0488623c4e4949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bdf7530b7c4a5b" /><Relationship Type="http://schemas.openxmlformats.org/officeDocument/2006/relationships/notesMaster" Target="/ppt/notesMasters/notesMaster1.xml" Id="R3c4c2fd5aaed42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8ed87668104298" /><Relationship Type="http://schemas.openxmlformats.org/officeDocument/2006/relationships/notesMaster" Target="/ppt/notesMasters/notesMaster1.xml" Id="R907dab358b384d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7ab7de052f4b3f" /><Relationship Type="http://schemas.openxmlformats.org/officeDocument/2006/relationships/notesMaster" Target="/ppt/notesMasters/notesMaster1.xml" Id="Rca43a07e91ac41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ec51b46d54b32" /><Relationship Type="http://schemas.openxmlformats.org/officeDocument/2006/relationships/notesMaster" Target="/ppt/notesMasters/notesMaster1.xml" Id="R6d9eb82d5c6645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91d0a8f7db4cbd" /><Relationship Type="http://schemas.openxmlformats.org/officeDocument/2006/relationships/notesMaster" Target="/ppt/notesMasters/notesMaster1.xml" Id="Rca11454e933e4e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2da05009774eaf" /><Relationship Type="http://schemas.openxmlformats.org/officeDocument/2006/relationships/notesMaster" Target="/ppt/notesMasters/notesMaster1.xml" Id="R8f91eae3ce8947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9b61fae29d4db1" /><Relationship Type="http://schemas.openxmlformats.org/officeDocument/2006/relationships/notesMaster" Target="/ppt/notesMasters/notesMaster1.xml" Id="Re53421a68fd14d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20fa9eeb56490a" /><Relationship Type="http://schemas.openxmlformats.org/officeDocument/2006/relationships/notesMaster" Target="/ppt/notesMasters/notesMaster1.xml" Id="Ra5741cf8d8f443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89130d88ce486f" /><Relationship Type="http://schemas.openxmlformats.org/officeDocument/2006/relationships/notesMaster" Target="/ppt/notesMasters/notesMaster1.xml" Id="Rb01e3bcacf6c42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380d5899b4427a" /><Relationship Type="http://schemas.openxmlformats.org/officeDocument/2006/relationships/notesMaster" Target="/ppt/notesMasters/notesMaster1.xml" Id="R590d437c891d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context: this is an ALCO decision-support pack for a fictional bank. The banking book is controlled synthetic data; public sources anchor the market and regulatory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https://www.bis.org/bcbs/publ/d578.pdf</a:t>
            </a:r>
          </a:p>
          <a:p xmlns:a="http://schemas.openxmlformats.org/drawingml/2006/main">
            <a:r>
              <a:t>https://www.tcmb.gov.tr/wps/wcm/connect/tr/tcmb+tr/main+menu/duyurular/basin/2026/duy2026-23</a:t>
            </a:r>
          </a:p>
          <a:p xmlns:a="http://schemas.openxmlformats.org/drawingml/2006/main">
            <a:r>
              <a:t>https://www.bddk.org.tr/BultenAylik/tr/Home/HaberBulteni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two decisions. Clarify that combined-stress LCR is a management warning, while the formal limit breach is the aggregate FX open 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data classes. This separation prevents synthetic positions from being mistaken for market observations and prevents proxy ratios from being presented as regulatory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https://www.tcmb.gov.tr/</a:t>
            </a:r>
          </a:p>
          <a:p xmlns:a="http://schemas.openxmlformats.org/drawingml/2006/main">
            <a:r>
              <a:t>https://www.bddk.org.tr/BultenAylik/tr/Home/HaberBulteni</a:t>
            </a:r>
          </a:p>
          <a:p xmlns:a="http://schemas.openxmlformats.org/drawingml/2006/main">
            <a:r>
              <a:t>https://www.bis.org/bcbs/publ/d578.pdf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synthetic balance sheet composition. Loans equal TRY 120bn; securities equal TRY 35bn; cash and interbank assets equal TRY 25bn. The key ALM issue is duration and repricing behavior, not accounting imbalance.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orange columns identify negative gap buckets. Use this slide to connect the repricing profile to the NII downside shown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six Basel-prescribed scenarios are present. Parallel-up is the largest negative outcome. The limit is not breached, but the remaining headroom is only about 1.3 percentage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https://www.bis.org/bcbs/publ/d578.pdf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model risk and assumption governance. The NII limit is not close to binding, but non-maturity deposit behavior is a key sensitivity.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explicitly that the output is a proxy for portfolio analytics, not a regulatory return. The combined scenario triggers a management warning because the proxy is below 100% and survival is exactly at the floor.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https://www.bis.org/basel_framework/chapter/LCR/20.htm</a:t>
            </a:r>
          </a:p>
          <a:p xmlns:a="http://schemas.openxmlformats.org/drawingml/2006/main">
            <a:r>
              <a:t>https://www.bis.org/basel_framework/chapter/NSF/20.htm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single formal risk-limit breach in the engine. The position is short USD and EUR. A buy-FX/sell-TRY hedge reduces the exposure, subject to ALCO and execution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targets are transparent reductions, not optimization outputs. FX hedge notional totals TRY 6.0bn. The TRY IRS notional is indicative for a 50% DV01 reduction. Every row carries ALCO_REVIEW_REQUIRED.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model validity from business-risk status. The accounting identity, data controls and test suite pass; the FX risk breach remains deliberately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explicit decision. Ask ALCO to approve the sequence and assign Treasury, ALM, Market Risk and Finance owners. Require a documented post-trade rerun before the action is considered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fddd859ab47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903a254a141e2" /><Relationship Type="http://schemas.openxmlformats.org/officeDocument/2006/relationships/slideLayout" Target="/ppt/slideLayouts/slideLayout1.xml" Id="R548b92fb6a564e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b92fb6a564e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b91a4e6e2481a" /><Relationship Type="http://schemas.openxmlformats.org/officeDocument/2006/relationships/notesSlide" Target="/ppt/notesSlides/notesSlide1.xml" Id="R99d2a85dc4bb49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c898451b145c0" /><Relationship Type="http://schemas.openxmlformats.org/officeDocument/2006/relationships/notesSlide" Target="/ppt/notesSlides/notesSlide2.xml" Id="Rbefdb23ee6bf4e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ff6c9fdb943d6" /><Relationship Type="http://schemas.openxmlformats.org/officeDocument/2006/relationships/notesSlide" Target="/ppt/notesSlides/notesSlide3.xml" Id="R84a5a7dfc147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2f1b8ceda4386" /><Relationship Type="http://schemas.openxmlformats.org/officeDocument/2006/relationships/chart" Target="/ppt/slides/charts/chart1.xml" Id="R5c48f92ac7774c5a" /><Relationship Type="http://schemas.openxmlformats.org/officeDocument/2006/relationships/notesSlide" Target="/ppt/notesSlides/notesSlide4.xml" Id="R1a151497f9e64b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91238872146f4" /><Relationship Type="http://schemas.openxmlformats.org/officeDocument/2006/relationships/chart" Target="/ppt/slides/charts/chart2.xml" Id="R749e7649d16a4b78" /><Relationship Type="http://schemas.openxmlformats.org/officeDocument/2006/relationships/notesSlide" Target="/ppt/notesSlides/notesSlide5.xml" Id="R36247f6209eb4d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01c922e0d4dd0" /><Relationship Type="http://schemas.openxmlformats.org/officeDocument/2006/relationships/chart" Target="/ppt/slides/charts/chart3.xml" Id="R9aaec2a0c7d04ecb" /><Relationship Type="http://schemas.openxmlformats.org/officeDocument/2006/relationships/notesSlide" Target="/ppt/notesSlides/notesSlide6.xml" Id="R529dea71080544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fb49f81eb4fbf" /><Relationship Type="http://schemas.openxmlformats.org/officeDocument/2006/relationships/chart" Target="/ppt/slides/charts/chart4.xml" Id="R03986feacf5b438c" /><Relationship Type="http://schemas.openxmlformats.org/officeDocument/2006/relationships/notesSlide" Target="/ppt/notesSlides/notesSlide7.xml" Id="Reaafaafc909e44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274462ccf4a68" /><Relationship Type="http://schemas.openxmlformats.org/officeDocument/2006/relationships/chart" Target="/ppt/slides/charts/chart5.xml" Id="Re15898ed86ca464c" /><Relationship Type="http://schemas.openxmlformats.org/officeDocument/2006/relationships/notesSlide" Target="/ppt/notesSlides/notesSlide8.xml" Id="R4839560aa82347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6d94072d64bc9" /><Relationship Type="http://schemas.openxmlformats.org/officeDocument/2006/relationships/chart" Target="/ppt/slides/charts/chart6.xml" Id="R8f8daeba432e4b19" /><Relationship Type="http://schemas.openxmlformats.org/officeDocument/2006/relationships/notesSlide" Target="/ppt/notesSlides/notesSlide9.xml" Id="R5a83393a7d894c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65c957ff44154" /><Relationship Type="http://schemas.openxmlformats.org/officeDocument/2006/relationships/notesSlide" Target="/ppt/notesSlides/notesSlide10.xml" Id="R053b53a4bdf74f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bcba657884e00" /><Relationship Type="http://schemas.openxmlformats.org/officeDocument/2006/relationships/notesSlide" Target="/ppt/notesSlides/notesSlide11.xml" Id="R694d44cf4a644c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bfc2792ce47e5" /><Relationship Type="http://schemas.openxmlformats.org/officeDocument/2006/relationships/notesSlide" Target="/ppt/notesSlides/notesSlide12.xml" Id="R0b82b04275bc4ed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TRY bn</c:v>
          </c:tx>
          <c:spPr>
            <a:solidFill xmlns:a="http://schemas.openxmlformats.org/drawingml/2006/main">
              <a:srgbClr val="167CA5"/>
            </a:solidFill>
          </c:spPr>
          <c:cat>
            <c:strLit>
              <c:ptCount val="4"/>
              <c:pt idx="0">
                <c:v>Loans</c:v>
              </c:pt>
              <c:pt idx="1">
                <c:v>Securities</c:v>
              </c:pt>
              <c:pt idx="2">
                <c:v>Cash &amp; interbank</c:v>
              </c:pt>
              <c:pt idx="3">
                <c:v>Other assets</c:v>
              </c:pt>
            </c:strLit>
          </c:cat>
          <c:val>
            <c:numLit>
              <c:formatCode>0.0</c:formatCode>
              <c:ptCount val="4"/>
              <c:pt idx="0">
                <c:v>120</c:v>
              </c:pt>
              <c:pt idx="1">
                <c:v>35</c:v>
              </c:pt>
              <c:pt idx="2">
                <c:v>25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6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Gap</c:v>
          </c:tx>
          <c:spPr>
            <a:solidFill xmlns:a="http://schemas.openxmlformats.org/drawingml/2006/main">
              <a:srgbClr val="167CA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cat>
            <c:strLit>
              <c:ptCount val="10"/>
              <c:pt idx="0">
                <c:v>ON-1M</c:v>
              </c:pt>
              <c:pt idx="1">
                <c:v>1M-3M</c:v>
              </c:pt>
              <c:pt idx="2">
                <c:v>3M-6M</c:v>
              </c:pt>
              <c:pt idx="3">
                <c:v>6M-9M</c:v>
              </c:pt>
              <c:pt idx="4">
                <c:v>9M-1Y</c:v>
              </c:pt>
              <c:pt idx="5">
                <c:v>1Y-1.5Y</c:v>
              </c:pt>
              <c:pt idx="6">
                <c:v>1.5Y-2Y</c:v>
              </c:pt>
              <c:pt idx="7">
                <c:v>2Y-3Y</c:v>
              </c:pt>
              <c:pt idx="8">
                <c:v>3Y-4Y</c:v>
              </c:pt>
              <c:pt idx="9">
                <c:v>4Y-5Y</c:v>
              </c:pt>
            </c:strLit>
          </c:cat>
          <c:val>
            <c:numLit>
              <c:formatCode>0.0</c:formatCode>
              <c:ptCount val="10"/>
              <c:pt idx="0">
                <c:v>0.87397303</c:v>
              </c:pt>
              <c:pt idx="1">
                <c:v>-15.26966438</c:v>
              </c:pt>
              <c:pt idx="2">
                <c:v>1.471970026</c:v>
              </c:pt>
              <c:pt idx="3">
                <c:v>-22.417504653</c:v>
              </c:pt>
              <c:pt idx="4">
                <c:v>-1.6587740229999999</c:v>
              </c:pt>
              <c:pt idx="5">
                <c:v>0.524106494</c:v>
              </c:pt>
              <c:pt idx="6">
                <c:v>1.8098200309999999</c:v>
              </c:pt>
              <c:pt idx="7">
                <c:v>4.372298045</c:v>
              </c:pt>
              <c:pt idx="8">
                <c:v>17.532919831</c:v>
              </c:pt>
              <c:pt idx="9">
                <c:v>18.233104230000002</c:v>
              </c:pt>
            </c:numLit>
          </c:val>
        </c:ser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6616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6616F"/>
                    </a:solidFill>
                  </a:rPr>
                  <a:t>TRY bn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6616F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6616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Delta EVE</c:v>
          </c:tx>
          <c:spPr>
            <a:solidFill xmlns:a="http://schemas.openxmlformats.org/drawingml/2006/main">
              <a:srgbClr val="167CA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67CA5"/>
              </a:solidFill>
            </c:spPr>
          </c:dPt>
          <c:cat>
            <c:strLit>
              <c:ptCount val="6"/>
              <c:pt idx="0">
                <c:v>parallel up</c:v>
              </c:pt>
              <c:pt idx="1">
                <c:v>parallel down</c:v>
              </c:pt>
              <c:pt idx="2">
                <c:v>steepener</c:v>
              </c:pt>
              <c:pt idx="3">
                <c:v>flattener</c:v>
              </c:pt>
              <c:pt idx="4">
                <c:v>short up</c:v>
              </c:pt>
              <c:pt idx="5">
                <c:v>short down</c:v>
              </c:pt>
            </c:strLit>
          </c:cat>
          <c:val>
            <c:numLit>
              <c:formatCode>0.0</c:formatCode>
              <c:ptCount val="6"/>
              <c:pt idx="0">
                <c:v>-3.0923760849999997</c:v>
              </c:pt>
              <c:pt idx="1">
                <c:v>3.6585116899999996</c:v>
              </c:pt>
              <c:pt idx="2">
                <c:v>-0.574568813</c:v>
              </c:pt>
              <c:pt idx="3">
                <c:v>-0.096980681</c:v>
              </c:pt>
              <c:pt idx="4">
                <c:v>-1.362502414</c:v>
              </c:pt>
              <c:pt idx="5">
                <c:v>1.462759883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6616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.5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6616F"/>
                    </a:solidFill>
                  </a:rPr>
                  <a:t>TRY bn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6616F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6616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Delta NII</c:v>
          </c:tx>
          <c:spPr>
            <a:solidFill xmlns:a="http://schemas.openxmlformats.org/drawingml/2006/main">
              <a:srgbClr val="167CA5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cat>
            <c:strLit>
              <c:ptCount val="2"/>
              <c:pt idx="0">
                <c:v>Parallel up</c:v>
              </c:pt>
              <c:pt idx="1">
                <c:v>Parallel down</c:v>
              </c:pt>
            </c:strLit>
          </c:cat>
          <c:val>
            <c:numLit>
              <c:formatCode>0.0</c:formatCode>
              <c:ptCount val="2"/>
              <c:pt idx="0">
                <c:v>1.3249490000000002</c:v>
              </c:pt>
              <c:pt idx="1">
                <c:v>-1.3249490000000002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8"/>
          <c:min val="-1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6616F"/>
                    </a:solidFill>
                  </a:rPr>
                  <a:t>TRY bn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6616F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6616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LCR proxy</c:v>
          </c:tx>
          <c:spPr>
            <a:solidFill xmlns:a="http://schemas.openxmlformats.org/drawingml/2006/main">
              <a:srgbClr val="167CA5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F97316"/>
              </a:solidFill>
            </c:spPr>
          </c:dPt>
          <c:cat>
            <c:strLit>
              <c:ptCount val="4"/>
              <c:pt idx="0">
                <c:v>base</c:v>
              </c:pt>
              <c:pt idx="1">
                <c:v>idiosyncratic</c:v>
              </c:pt>
              <c:pt idx="2">
                <c:v>market wide</c:v>
              </c:pt>
              <c:pt idx="3">
                <c:v>combined</c:v>
              </c:pt>
            </c:strLit>
          </c:cat>
          <c:val>
            <c:numLit>
              <c:formatCode>0.0</c:formatCode>
              <c:ptCount val="4"/>
              <c:pt idx="0">
                <c:v>158.721676</c:v>
              </c:pt>
              <c:pt idx="1">
                <c:v>120.218579</c:v>
              </c:pt>
              <c:pt idx="2">
                <c:v>138.049642</c:v>
              </c:pt>
              <c:pt idx="3">
                <c:v>94.833642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18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6616F"/>
                    </a:solidFill>
                  </a:rPr>
                  <a:t>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6616F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6616F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Absolute open position</c:v>
          </c:tx>
          <c:spPr>
            <a:solidFill xmlns:a="http://schemas.openxmlformats.org/drawingml/2006/main">
              <a:srgbClr val="F97316"/>
            </a:solidFill>
          </c:spPr>
          <c:cat>
            <c:strLit>
              <c:ptCount val="2"/>
              <c:pt idx="0">
                <c:v>EUR</c:v>
              </c:pt>
              <c:pt idx="1">
                <c:v>USD</c:v>
              </c:pt>
            </c:strLit>
          </c:cat>
          <c:val>
            <c:numLit>
              <c:formatCode>0.0</c:formatCode>
              <c:ptCount val="2"/>
              <c:pt idx="0">
                <c:v>1.5</c:v>
              </c:pt>
              <c:pt idx="1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6616F"/>
                    </a:solidFill>
                  </a:rPr>
                  <a:t>TRY bn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6616F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6616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5A46A-4F20-46D0-8A15-74838C16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7CA5"/>
                </a:solidFill>
              </a:defRPr>
            </a:pPr>
            <a:r>
              <a:rPr sz="1125" b="1" i="0">
                <a:solidFill>
                  <a:srgbClr val="167CA5"/>
                </a:solidFill>
              </a:rPr>
              <a:t>ALCO EXECUTIVE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45516-B38E-434D-8885-5914D5AB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1CF252B6-5442-4578-B9D3-73539E08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01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101820"/>
                </a:solidFill>
              </a:defRPr>
            </a:pPr>
            <a:r>
              <a:rPr sz="4950" b="1" i="0">
                <a:solidFill>
                  <a:srgbClr val="101820"/>
                </a:solidFill>
              </a:rPr>
              <a:t>Treasury &amp; ALM</a:t>
            </a:r>
          </a:p>
          <a:p xmlns:a="http://schemas.openxmlformats.org/drawingml/2006/main">
            <a:pPr algn="l">
              <a:defRPr sz="4950" b="1" i="0">
                <a:solidFill>
                  <a:srgbClr val="101820"/>
                </a:solidFill>
              </a:defRPr>
            </a:pPr>
            <a:r>
              <a:rPr sz="4950" b="1" i="0">
                <a:solidFill>
                  <a:srgbClr val="101820"/>
                </a:solidFill>
              </a:rPr>
              <a:t>Risk Control Tower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BE06A-235A-4C2E-847E-3D3FA35A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6616F"/>
                </a:solidFill>
              </a:defRPr>
            </a:pPr>
            <a:r>
              <a:rPr sz="1950" b="0" i="0">
                <a:solidFill>
                  <a:srgbClr val="56616F"/>
                </a:solidFill>
              </a:rPr>
              <a:t>Aurelia Bank | IRRBB, liquidity, FX and hedge decision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C3ADE-64E3-41B4-9C24-B06DDED5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2362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F60A9-AC3C-4C16-97B5-18E07E67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1714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988DE-449A-430B-A04A-70ADB0ED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</a:defRPr>
            </a:pPr>
            <a:r>
              <a:rPr sz="2550" b="1" i="0">
                <a:solidFill>
                  <a:srgbClr val="101820"/>
                </a:solidFill>
              </a:rPr>
              <a:t>2026.08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2F543-C009-41B6-8D8E-DEB6FE7A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1600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6616F"/>
                </a:solidFill>
              </a:defRPr>
            </a:pPr>
            <a:r>
              <a:rPr sz="1275" b="0" i="0">
                <a:solidFill>
                  <a:srgbClr val="56616F"/>
                </a:solidFill>
              </a:rPr>
              <a:t>Controlled synthetic banking book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56616F"/>
                </a:solidFill>
              </a:defRPr>
            </a:pPr>
            <a:r>
              <a:rPr sz="1275" b="0" i="0">
                <a:solidFill>
                  <a:srgbClr val="56616F"/>
                </a:solidFill>
              </a:rPr>
              <a:t>Official market anchors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56616F"/>
                </a:solidFill>
              </a:defRPr>
            </a:pPr>
            <a:r>
              <a:rPr sz="1275" b="0" i="0">
                <a:solidFill>
                  <a:srgbClr val="56616F"/>
                </a:solidFill>
              </a:rPr>
              <a:t>Six Basel IRRBB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615CF-3098-4629-9A7F-69319720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16F"/>
                </a:solidFill>
              </a:defRPr>
            </a:pPr>
            <a:r>
              <a:rPr sz="1200" b="0" i="0">
                <a:solidFill>
                  <a:srgbClr val="56616F"/>
                </a:solidFill>
              </a:rPr>
              <a:t>Prepared by Murat Miraç Gedik | Portfolio demonstration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10853-2EB9-4B77-BE22-6FEE34EA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626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820"/>
                </a:solidFill>
              </a:defRPr>
            </a:pPr>
            <a:r>
              <a:rPr sz="1200" b="1" i="0">
                <a:solidFill>
                  <a:srgbClr val="101820"/>
                </a:solidFill>
              </a:rPr>
              <a:t>19 AUG 2026</a:t>
            </a:r>
          </a:p>
        </p:txBody>
      </p:sp>
    </p:spTree>
    <p:extLst>
      <p:ext uri="{BB962C8B-B14F-4D97-AF65-F5344CB8AC3E}">
        <p14:creationId xmlns:p14="http://schemas.microsoft.com/office/powerpoint/2010/main" val="732126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9A5B9-FCD0-4771-9C56-3C205940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47384-32B6-4473-A466-6A47244E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984EA-284F-42D2-AA2F-C6DA8719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DE400-E58B-4E85-87DE-1695BA6B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Source: Aurelia model outputs; internal risk appetite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984ED-795D-49AD-888F-1874C5D8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357D7-1757-4653-A97D-9698E5A0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Hedge FX now; protect liquidity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DF38F-089A-4BB3-92D3-0AE14493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The formal breach is actionable, while liquidity requires a management buffer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136C5-F2E5-4BA1-BC1C-1984F427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352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EE6AD-2D5F-4E44-9943-584F43E9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97316"/>
                </a:solidFill>
              </a:defRPr>
            </a:pPr>
            <a:r>
              <a:rPr sz="3600" b="1" i="0">
                <a:solidFill>
                  <a:srgbClr val="F97316"/>
                </a:solidFill>
              </a:rPr>
              <a:t>33.3%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2D0AD-ECF7-467A-B405-245E552F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</a:defRPr>
            </a:pPr>
            <a:r>
              <a:rPr sz="1650" b="1" i="0">
                <a:solidFill>
                  <a:srgbClr val="101820"/>
                </a:solidFill>
              </a:rPr>
              <a:t>FX open / equity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0B335-356F-4A32-A256-5BAD3F41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5DBD8-C474-4119-B16E-709B16F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16F"/>
                </a:solidFill>
              </a:defRPr>
            </a:pPr>
            <a:r>
              <a:rPr sz="1200" b="0" i="0">
                <a:solidFill>
                  <a:srgbClr val="56616F"/>
                </a:solidFill>
              </a:rPr>
              <a:t>20.0% limit | formal breach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CE055-7AA5-4D67-8FE6-7D5ADC37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3352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B4C90-E86D-4ED9-A851-17B92164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97316"/>
                </a:solidFill>
              </a:defRPr>
            </a:pPr>
            <a:r>
              <a:rPr sz="3600" b="1" i="0">
                <a:solidFill>
                  <a:srgbClr val="F97316"/>
                </a:solidFill>
              </a:rPr>
              <a:t>94.8%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3FB81-B900-4EA9-929C-0DCE88D0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</a:defRPr>
            </a:pPr>
            <a:r>
              <a:rPr sz="1650" b="1" i="0">
                <a:solidFill>
                  <a:srgbClr val="101820"/>
                </a:solidFill>
              </a:rPr>
              <a:t>Combined LCR 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99C23-479E-46E3-AE5F-3F4F24DB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894FD-A48D-4188-A5A4-6FE905CA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433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16F"/>
                </a:solidFill>
              </a:defRPr>
            </a:pPr>
            <a:r>
              <a:rPr sz="1200" b="0" i="0">
                <a:solidFill>
                  <a:srgbClr val="56616F"/>
                </a:solidFill>
              </a:rPr>
              <a:t>Below 100% in combined stress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6CBA8-7C6D-47A9-A625-CF106A3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3352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EB361-DDBD-4B44-83A2-1A38491A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5803D"/>
                </a:solidFill>
              </a:defRPr>
            </a:pPr>
            <a:r>
              <a:rPr sz="3600" b="1" i="0">
                <a:solidFill>
                  <a:srgbClr val="15803D"/>
                </a:solidFill>
              </a:rPr>
              <a:t>13.7%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8D0FC-FBD3-454F-971B-BE27EE89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432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</a:defRPr>
            </a:pPr>
            <a:r>
              <a:rPr sz="1650" b="1" i="0">
                <a:solidFill>
                  <a:srgbClr val="101820"/>
                </a:solidFill>
              </a:rPr>
              <a:t>Worst EVE 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10BA0-FE52-4B4A-A881-3B66BE66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0AF37-DD55-4743-8E4D-631BA477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16F"/>
                </a:solidFill>
              </a:defRPr>
            </a:pPr>
            <a:r>
              <a:rPr sz="1200" b="0" i="0">
                <a:solidFill>
                  <a:srgbClr val="56616F"/>
                </a:solidFill>
              </a:rPr>
              <a:t>15.0% limit | within appetite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8B54A-228F-4953-8CB3-21FF683D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Decision ask | Approve the FX remediation target, preserve the liquidity buffer, and authorize validation of TRY IRS sizing before execution.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4C17C-4511-42C7-B781-25A5F848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6616F"/>
                </a:solidFill>
              </a:defRPr>
            </a:pPr>
            <a:r>
              <a:rPr sz="1275" b="0" i="0">
                <a:solidFill>
                  <a:srgbClr val="56616F"/>
                </a:solidFill>
              </a:rPr>
              <a:t>No hedge recommendation is pre-approved: every trade remains subject to ALCO, market-risk limits, collateral, legal and execution controls.</a:t>
            </a:r>
          </a:p>
        </p:txBody>
      </p:sp>
    </p:spTree>
    <p:extLst>
      <p:ext uri="{BB962C8B-B14F-4D97-AF65-F5344CB8AC3E}">
        <p14:creationId xmlns:p14="http://schemas.microsoft.com/office/powerpoint/2010/main" val="497366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6019F3-5BFA-4AC6-B0BD-77C6C6F2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1A671-9B89-4A15-BF77-5CC4CB39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7FFEB-50C4-4165-8209-016A268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85948-6D81-416D-AA1C-AF3D9E8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Sources: TCMB, BDDK, Basel Committee; Aurelia deterministic generator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3627D-992B-4D31-A5FB-68FCBD3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FE81D-07F3-43E1-970C-FA60DD85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Evidence, assumptions and bank records stay separate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233D6-A37A-4716-A585-BD71B568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The architecture is designed for auditability, reproducibility and honest disclosure.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DC69D-0D4F-44F7-B2D6-84BEB127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24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DAB3C-7F10-4382-BC67-4B419A91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D52"/>
                </a:solidFill>
              </a:defRPr>
            </a:pPr>
            <a:r>
              <a:rPr sz="1350" b="1" i="0">
                <a:solidFill>
                  <a:srgbClr val="0B3D52"/>
                </a:solidFill>
              </a:rPr>
              <a:t>01 | PUBLIC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8CA25-3587-4F18-A4C4-9C77DDA5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9F44F-B7EE-403F-9C54-27F2ECE5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590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TCMB policy rate and FX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BDDK sector benchmark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Basel IRRBB shock calibration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C424A-87FD-4DEB-998D-0C87C929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6616F"/>
                </a:solidFill>
              </a:defRPr>
            </a:pPr>
            <a:r>
              <a:rPr sz="1125" b="1" i="0">
                <a:solidFill>
                  <a:srgbClr val="56616F"/>
                </a:solidFill>
              </a:rPr>
              <a:t>Official observation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9192D-4F39-4F4A-B315-74BEA105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2766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67CA5"/>
                </a:solidFill>
              </a:defRPr>
            </a:pPr>
            <a:r>
              <a:rPr sz="2550" b="1" i="0">
                <a:solidFill>
                  <a:srgbClr val="167CA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3F2A3-E83D-44AB-9A22-1117BF82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124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EC616-A1D7-48E4-A828-D94E34F0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D52"/>
                </a:solidFill>
              </a:defRPr>
            </a:pPr>
            <a:r>
              <a:rPr sz="1350" b="1" i="0">
                <a:solidFill>
                  <a:srgbClr val="0B3D52"/>
                </a:solidFill>
              </a:rPr>
              <a:t>02 | CONTROLLED 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B0EDB-6139-4F1C-9F11-BC605ABE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5C665-DA07-4FBA-97CA-FED927D9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590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149 synthetic positions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1,156 contractual cash flows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Seeded curves and assumptions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819EC-534A-40DC-9A5E-B0D4D0CA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6616F"/>
                </a:solidFill>
              </a:defRPr>
            </a:pPr>
            <a:r>
              <a:rPr sz="1125" b="1" i="0">
                <a:solidFill>
                  <a:srgbClr val="56616F"/>
                </a:solidFill>
              </a:rPr>
              <a:t>Deterministic synthetic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4034C-5691-4857-AC86-414B0CC5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766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67CA5"/>
                </a:solidFill>
              </a:defRPr>
            </a:pPr>
            <a:r>
              <a:rPr sz="2550" b="1" i="0">
                <a:solidFill>
                  <a:srgbClr val="167CA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99A9D-EE84-49A2-BBC0-B40FB348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124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024D7-0165-4776-9003-CBD4D5C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43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D52"/>
                </a:solidFill>
              </a:defRPr>
            </a:pPr>
            <a:r>
              <a:rPr sz="1350" b="1" i="0">
                <a:solidFill>
                  <a:srgbClr val="0B3D52"/>
                </a:solidFill>
              </a:rPr>
              <a:t>03 | ALCO OUTPUTS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CC1FE-BE36-440B-A2B8-F16E72C0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3A992-FCD6-45DB-A000-3A06E236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2590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EVE and NII sensitivity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Liquidity stress and survival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FX and hedge recommendations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03354-8BA7-421F-AE52-3241D0EB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6616F"/>
                </a:solidFill>
              </a:defRPr>
            </a:pPr>
            <a:r>
              <a:rPr sz="1125" b="1" i="0">
                <a:solidFill>
                  <a:srgbClr val="56616F"/>
                </a:solidFill>
              </a:rPr>
              <a:t>Decision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EA0525-6292-456C-B88A-21821A63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</a:defRPr>
            </a:pPr>
            <a:r>
              <a:rPr sz="1650" b="1" i="0">
                <a:solidFill>
                  <a:srgbClr val="101820"/>
                </a:solidFill>
              </a:rPr>
              <a:t>Governance boundary | LCR and NSFR are labelled proxies; hedge outputs are recommendations; customer data, PII and confidential bank data are excluded.</a:t>
            </a:r>
          </a:p>
        </p:txBody>
      </p:sp>
    </p:spTree>
    <p:extLst>
      <p:ext uri="{BB962C8B-B14F-4D97-AF65-F5344CB8AC3E}">
        <p14:creationId xmlns:p14="http://schemas.microsoft.com/office/powerpoint/2010/main" val="439358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DCD4C-3F89-4E48-80F3-0063E198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AD30D-2C6C-4240-9D0E-8894D8EE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23701-A952-4B1E-B832-486DCFD9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F1B88-B5E8-4916-BB64-5A092721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Source: data/demo/positions.csv; deterministic synthetic banking 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E8939-4673-487B-8B1C-3E6F89C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9A494-8D20-454C-9D94-0EB33378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A TRY 180bn balance sheet is deposit-funded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8AEEB-110A-4B54-882F-1D196B41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Deposits fund 76.5% of liabilities; loans and securities drive the duration profile.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6191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48f92ac7774c5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9D11E-3C54-47B2-BE8D-1958EEA2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62150"/>
            <a:ext cx="4095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3128D-067B-4297-BD50-25F091D8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05050"/>
            <a:ext cx="3409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TRY 120.5bn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B0B5E-FB4F-452E-BA36-F55C1CDB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43225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3D52"/>
                </a:solidFill>
              </a:defRPr>
            </a:pPr>
            <a:r>
              <a:rPr sz="1650" b="1" i="0">
                <a:solidFill>
                  <a:srgbClr val="0B3D52"/>
                </a:solidFill>
              </a:rPr>
              <a:t>customer deposits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1A62A-AF90-4A5A-B991-4899160D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480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91F74-DFCE-42DF-B890-752F0A7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3409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820"/>
                </a:solidFill>
              </a:defRPr>
            </a:pPr>
            <a:r>
              <a:rPr sz="1725" b="0" i="0">
                <a:solidFill>
                  <a:srgbClr val="101820"/>
                </a:solidFill>
              </a:rPr>
              <a:t>Tier 1 capital</a:t>
            </a:r>
          </a:p>
          <a:p xmlns:a="http://schemas.openxmlformats.org/drawingml/2006/main">
            <a:pPr algn="l">
              <a:defRPr sz="1725" b="0" i="0">
                <a:solidFill>
                  <a:srgbClr val="101820"/>
                </a:solidFill>
              </a:defRPr>
            </a:pPr>
            <a:r>
              <a:rPr sz="1725" b="0" i="0">
                <a:solidFill>
                  <a:srgbClr val="101820"/>
                </a:solidFill>
              </a:rPr>
              <a:t>TRY 22.5bn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101820"/>
                </a:solidFill>
              </a:defRPr>
            </a:pPr>
            <a:r>
              <a:rPr sz="1725" b="0" i="0">
                <a:solidFill>
                  <a:srgbClr val="101820"/>
                </a:solidFill>
              </a:rPr>
              <a:t>Liabilities / assets</a:t>
            </a:r>
          </a:p>
          <a:p xmlns:a="http://schemas.openxmlformats.org/drawingml/2006/main">
            <a:pPr algn="l">
              <a:defRPr sz="1725" b="0" i="0">
                <a:solidFill>
                  <a:srgbClr val="101820"/>
                </a:solidFill>
              </a:defRPr>
            </a:pPr>
            <a:r>
              <a:rPr sz="1725" b="0" i="0">
                <a:solidFill>
                  <a:srgbClr val="101820"/>
                </a:solidFill>
              </a:rPr>
              <a:t>87.5%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158F0-CBC8-42A0-B409-2E22D0E1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Implication | Funding is stable in the base case, but the asset duration and non-maturity deposit behavior must be managed together.</a:t>
            </a:r>
          </a:p>
        </p:txBody>
      </p:sp>
    </p:spTree>
    <p:extLst>
      <p:ext uri="{BB962C8B-B14F-4D97-AF65-F5344CB8AC3E}">
        <p14:creationId xmlns:p14="http://schemas.microsoft.com/office/powerpoint/2010/main" val="1242232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CB820-A5CF-4F66-8A13-72D4BBED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848C6-7120-4DC6-9730-B1E5F26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A5E21-B37D-47E3-810F-2304A4DB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413B9-D812-4591-8942-E2DCA67D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Source: artifacts/results/repricing_gap.csv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52B26-0CCA-4C79-8661-E23CDA0C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14E40-4609-4531-8A04-815C9D79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First-year repricing gaps are liability-sensitive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F28F8-2BB8-481C-9D97-CFD58288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TRY gaps are negative through 1 year before long-dated assets restore cumulative sensitivity.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524750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9e7649d16a4b7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2521B-26A3-4233-9EDC-DB1EAC10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8384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56993-FBE0-45A2-8766-68FEFC9A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3D52"/>
                </a:solidFill>
              </a:defRPr>
            </a:pPr>
            <a:r>
              <a:rPr sz="1200" b="1" i="0">
                <a:solidFill>
                  <a:srgbClr val="0B3D52"/>
                </a:solidFill>
              </a:rPr>
              <a:t>WHAT IT MEANS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47F53-AF36-4B6E-AE1C-36ECF7B2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2228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</a:defRPr>
            </a:pPr>
            <a:r>
              <a:rPr sz="1650" b="1" i="0">
                <a:solidFill>
                  <a:srgbClr val="101820"/>
                </a:solidFill>
              </a:rPr>
              <a:t>Rates falling can compress NII because liabilities reprice faster than assets.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4C026-7CAA-4B8F-83FC-1599465D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222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EE639-F08C-41D6-822B-D31F7266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228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Action</a:t>
            </a:r>
          </a:p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Validate deposit betas and repricing lags before changing pricing or hedge mix.</a:t>
            </a:r>
          </a:p>
        </p:txBody>
      </p:sp>
    </p:spTree>
    <p:extLst>
      <p:ext uri="{BB962C8B-B14F-4D97-AF65-F5344CB8AC3E}">
        <p14:creationId xmlns:p14="http://schemas.microsoft.com/office/powerpoint/2010/main" val="992800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7DD8E-38DC-4B3E-9D72-B9A30AB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25263-84B0-4270-8499-79FB395D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9A42A-1434-4F7C-A655-34F8ED08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B60D4-745A-4454-BE91-C65BBFFC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Sources: Basel d578 shock calibration; artifacts/results/eve.csv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EB1F5-01EA-42AE-8914-09012C82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1D33D-9C30-41C2-A6C6-CA1A511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Parallel-up is the binding EVE shock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E3A3C-9C81-4BC4-866F-3E345A0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The worst loss is TRY 3.09bn, equal to 13.7% of Tier 1 capital versus a 15.0% limit.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aec2a0c7d04ec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C7D37-F8C9-48FA-BAE3-2AD04BC9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838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63B64-6E14-411E-9A49-0460C38D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97316"/>
                </a:solidFill>
              </a:defRPr>
            </a:pPr>
            <a:r>
              <a:rPr sz="3450" b="1" i="0">
                <a:solidFill>
                  <a:srgbClr val="F97316"/>
                </a:solidFill>
              </a:rPr>
              <a:t>13.7%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CEE92-5F92-41B7-A398-9BE527D6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05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</a:defRPr>
            </a:pPr>
            <a:r>
              <a:rPr sz="1425" b="1" i="0">
                <a:solidFill>
                  <a:srgbClr val="101820"/>
                </a:solidFill>
              </a:rPr>
              <a:t>worst EVE loss</a:t>
            </a:r>
          </a:p>
          <a:p xmlns:a="http://schemas.openxmlformats.org/drawingml/2006/main">
            <a:pPr algn="l">
              <a:defRPr sz="1425" b="1" i="0">
                <a:solidFill>
                  <a:srgbClr val="101820"/>
                </a:solidFill>
              </a:defRPr>
            </a:pPr>
            <a:r>
              <a:rPr sz="1425" b="1" i="0">
                <a:solidFill>
                  <a:srgbClr val="101820"/>
                </a:solidFill>
              </a:rPr>
              <a:t>/ Tier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EF949-2C28-43E0-A704-4498E7BE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838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08DA1-4950-4970-A6B5-B8C0BDD7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</a:defRPr>
            </a:pPr>
            <a:r>
              <a:rPr sz="2550" b="1" i="0">
                <a:solidFill>
                  <a:srgbClr val="101820"/>
                </a:solidFill>
              </a:rPr>
              <a:t>TRY 22.5bn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A822C-14BA-4B0E-91C5-AC408CFA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Tier 1 capital</a:t>
            </a:r>
          </a:p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15.0% internal EVE limit</a:t>
            </a:r>
          </a:p>
        </p:txBody>
      </p:sp>
    </p:spTree>
    <p:extLst>
      <p:ext uri="{BB962C8B-B14F-4D97-AF65-F5344CB8AC3E}">
        <p14:creationId xmlns:p14="http://schemas.microsoft.com/office/powerpoint/2010/main" val="249551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4AB48-9AE7-45A2-A323-28B129C7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65F56-B18C-48A1-8DA1-78FEF804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8921B-0723-42B3-8A1B-72332FFA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05BD4-34E0-4E36-87CB-6FDACE8F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Source: artifacts/results/nii.csv; internal 12% limit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70450-2599-40AF-A115-4AD2A1A6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99292-6A8C-425A-8FD7-A40854B0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NII downside remains inside appetite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8A4CF-2B37-4CF4-BA5C-29174F2D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Parallel-down reduces 12-month NII by TRY 1.32bn, or 5.8%, against a 12.0% limit.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986feacf5b438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4869A-DEE4-4C0E-84A6-94A2C60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4019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The limit is comfortable; the behavior assumption is not.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6D659-BBE7-40F1-B922-459C8062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401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7290A-EEB0-4B93-8AE7-6051206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62300"/>
            <a:ext cx="40195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NII depends 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deposit beta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repricing lag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rate floors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customer migration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6F258-6670-46EE-8746-D6669074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91100"/>
            <a:ext cx="4019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D52"/>
                </a:solidFill>
              </a:defRPr>
            </a:pPr>
            <a:r>
              <a:rPr sz="1350" b="1" i="0">
                <a:solidFill>
                  <a:srgbClr val="0B3D52"/>
                </a:solidFill>
              </a:rPr>
              <a:t>Management response | validate behavior before increasing hedge volume.</a:t>
            </a:r>
          </a:p>
        </p:txBody>
      </p:sp>
    </p:spTree>
    <p:extLst>
      <p:ext uri="{BB962C8B-B14F-4D97-AF65-F5344CB8AC3E}">
        <p14:creationId xmlns:p14="http://schemas.microsoft.com/office/powerpoint/2010/main" val="655762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38342-C891-476E-8785-7725A6F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3E7E4-F5C2-43E2-90F7-470612A3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11B8A-821C-4A30-8279-A4978A30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8A402-2920-4746-AFAB-541DDAE5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Sources: BIS LCR/NSFR framework; artifacts/results/liquidity.csv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E6CDA-092C-4ABD-B466-4E5D621C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A318C-F457-4D23-9214-A7F83104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Combined stress exhausts LCR proxy headroom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76737-2853-439D-9B08-7B3A5A7F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The proxy falls from 158.7% to 94.8%, while the survival horizon reaches the 30-day floor.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676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5898ed86ca464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DE9C2-986D-490B-90A9-B9D3638A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543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1B3D1-24A2-45A7-AE88-F570D17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97316"/>
                </a:solidFill>
              </a:defRPr>
            </a:pPr>
            <a:r>
              <a:rPr sz="3450" b="1" i="0">
                <a:solidFill>
                  <a:srgbClr val="F97316"/>
                </a:solidFill>
              </a:rPr>
              <a:t>94.8%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78ACB-9B79-475D-A50B-064E93C4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combined LCR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C995A-63C9-4AD5-9CDC-4893CB96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543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B699E-1FA8-4548-AEC1-10DF5555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338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30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09E35-256B-41FE-B155-A8F2C1B0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6616F"/>
                </a:solidFill>
              </a:defRPr>
            </a:pPr>
            <a:r>
              <a:rPr sz="1425" b="0" i="0">
                <a:solidFill>
                  <a:srgbClr val="56616F"/>
                </a:solidFill>
              </a:rPr>
              <a:t>combined survival horizon</a:t>
            </a:r>
          </a:p>
          <a:p xmlns:a="http://schemas.openxmlformats.org/drawingml/2006/main">
            <a:pPr algn="l">
              <a:defRPr sz="1425" b="0" i="0">
                <a:solidFill>
                  <a:srgbClr val="56616F"/>
                </a:solidFill>
              </a:defRPr>
            </a:pPr>
            <a:r>
              <a:rPr sz="1425" b="0" i="0">
                <a:solidFill>
                  <a:srgbClr val="56616F"/>
                </a:solidFill>
              </a:rPr>
              <a:t>NSFR proxy: 143.4%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EBDD0-D696-4311-B474-4BDC3C4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Management action | retain HQLA, pre-position contingent funding and monitor deposit runoff triggers daily.</a:t>
            </a:r>
          </a:p>
        </p:txBody>
      </p:sp>
    </p:spTree>
    <p:extLst>
      <p:ext uri="{BB962C8B-B14F-4D97-AF65-F5344CB8AC3E}">
        <p14:creationId xmlns:p14="http://schemas.microsoft.com/office/powerpoint/2010/main" val="1571337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C4116-22F3-410E-8C43-8A0B9822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2A866-7527-4483-89A5-0EEE5654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59765-F59F-451E-8CEE-5B29F823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9D7AD-96A3-4B4D-9564-1C4EF2A2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Source: artifacts/results/fx.csv; internal 20% aggregate limit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18EFD-8EAE-4BAD-A6E6-4214B8B1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7714A-3FAD-40DA-9F7D-11F2C9AD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FX is the only formal limit breach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27388-D610-4D3D-9FA9-7D35EEAC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A TRY 7.5bn aggregate short position equals 33.3% of equity; USD is the dominant driver.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6096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8daeba432e4b1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C6B0E-8E61-46B7-949A-534BD07B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41719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7C961-8923-4AD3-8229-F941D0D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97316"/>
                </a:solidFill>
              </a:defRPr>
            </a:pPr>
            <a:r>
              <a:rPr sz="3000" b="1" i="0">
                <a:solidFill>
                  <a:srgbClr val="F97316"/>
                </a:solidFill>
              </a:rPr>
              <a:t>33.3% vs 20.0%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6AC6D-0480-4074-854B-6E5EB3B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</a:defRPr>
            </a:pPr>
            <a:r>
              <a:rPr sz="1725" b="1" i="0">
                <a:solidFill>
                  <a:srgbClr val="101820"/>
                </a:solidFill>
              </a:rPr>
              <a:t>13.3ppt above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E329B-4BDE-4182-937D-B9588D30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497F1-0D03-4210-9506-E4B0D6EB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86200"/>
            <a:ext cx="3448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Recommended target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80% exposure reduction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via FX swap or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83995-2856-4975-9522-A6388445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0"/>
                </a:solidFill>
              </a:defRPr>
            </a:pPr>
            <a:r>
              <a:rPr sz="1950" b="1" i="0">
                <a:solidFill>
                  <a:srgbClr val="101820"/>
                </a:solidFill>
              </a:rPr>
              <a:t>A 20% FX appreciation would create a TRY 1.5bn loss before the hedge overlay.</a:t>
            </a:r>
          </a:p>
        </p:txBody>
      </p:sp>
    </p:spTree>
    <p:extLst>
      <p:ext uri="{BB962C8B-B14F-4D97-AF65-F5344CB8AC3E}">
        <p14:creationId xmlns:p14="http://schemas.microsoft.com/office/powerpoint/2010/main" val="881791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6D4E7-BFE4-4D7F-95EC-F66AB831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64CB8-2385-4357-A7AC-E4A1D9EE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35661-8716-4B45-B0C5-7297687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8D295-3886-4EBA-9A6E-CB9E5BFF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Source: artifacts/results/hedges.csv; all recommendations require ALCO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F770F-E198-4141-8EA8-A38A68E6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2BF1E-CA55-4119-A179-3AD873C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Two overlays address the largest exposures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0E51A-F81E-4EEC-8B7B-51CD3DD9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The targets reduce risk without presenting model output as an executable trade instruction.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FB62C-7723-41A0-A267-4E1677A8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D52"/>
                </a:solidFill>
              </a:defRPr>
            </a:pPr>
            <a:r>
              <a:rPr sz="1350" b="1" i="0">
                <a:solidFill>
                  <a:srgbClr val="0B3D52"/>
                </a:solidFill>
              </a:rPr>
              <a:t>FX OPEN 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ABB53-CFF6-41C3-86F8-D4BD8A19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52671-D187-4A89-93F6-BE17CCEF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97316"/>
                </a:solidFill>
              </a:defRPr>
            </a:pPr>
            <a:r>
              <a:rPr sz="2550" b="1" i="0">
                <a:solidFill>
                  <a:srgbClr val="F97316"/>
                </a:solidFill>
              </a:rPr>
              <a:t>TRY 7.5bn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86895-BC4F-4AA5-AAEA-F147DCC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16F"/>
                </a:solidFill>
              </a:defRPr>
            </a:pPr>
            <a:r>
              <a:rPr sz="1200" b="0" i="0">
                <a:solidFill>
                  <a:srgbClr val="56616F"/>
                </a:solidFill>
              </a:rPr>
              <a:t>current short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E37A0-88AE-4D04-A1EA-ECE0C1E9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67CA5"/>
                </a:solidFill>
              </a:defRPr>
            </a:pPr>
            <a:r>
              <a:rPr sz="2550" b="1" i="0">
                <a:solidFill>
                  <a:srgbClr val="167CA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7E3CF-8CA4-4EC8-A529-FDE906C4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</a:defRPr>
            </a:pPr>
            <a:r>
              <a:rPr sz="2550" b="1" i="0">
                <a:solidFill>
                  <a:srgbClr val="101820"/>
                </a:solidFill>
              </a:rPr>
              <a:t>TRY 1.5bn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4B831-8A79-4E08-B3AA-C73B0D22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16F"/>
                </a:solidFill>
              </a:defRPr>
            </a:pPr>
            <a:r>
              <a:rPr sz="1200" b="0" i="0">
                <a:solidFill>
                  <a:srgbClr val="56616F"/>
                </a:solidFill>
              </a:rPr>
              <a:t>target short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813A2-DF7A-48C3-8843-D98BC1A7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Instrument | FX swap or forward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Direction | Buy FX, sell TRY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Target | 80% reduction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2750C-944C-474F-9C5F-69A8F5E9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D52"/>
                </a:solidFill>
              </a:defRPr>
            </a:pPr>
            <a:r>
              <a:rPr sz="1350" b="1" i="0">
                <a:solidFill>
                  <a:srgbClr val="0B3D52"/>
                </a:solidFill>
              </a:rPr>
              <a:t>TRY DV01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090D8-B63D-418B-A992-0E7CBBAA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8661B-2870-4013-8E5E-9A33E3F8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97316"/>
                </a:solidFill>
              </a:defRPr>
            </a:pPr>
            <a:r>
              <a:rPr sz="2550" b="1" i="0">
                <a:solidFill>
                  <a:srgbClr val="F97316"/>
                </a:solidFill>
              </a:rPr>
              <a:t>-8.25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C182B-16F8-4869-92C5-C39059FE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16F"/>
                </a:solidFill>
              </a:defRPr>
            </a:pPr>
            <a:r>
              <a:rPr sz="1200" b="0" i="0">
                <a:solidFill>
                  <a:srgbClr val="56616F"/>
                </a:solidFill>
              </a:rPr>
              <a:t>TRY mn / bp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287AF-85B1-4D4D-90E9-D8E65A2D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67CA5"/>
                </a:solidFill>
              </a:defRPr>
            </a:pPr>
            <a:r>
              <a:rPr sz="2550" b="1" i="0">
                <a:solidFill>
                  <a:srgbClr val="167CA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D8622-EC36-4F89-9C61-B93B3514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860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</a:defRPr>
            </a:pPr>
            <a:r>
              <a:rPr sz="2550" b="1" i="0">
                <a:solidFill>
                  <a:srgbClr val="101820"/>
                </a:solidFill>
              </a:rPr>
              <a:t>-4.13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4706F-695A-4BD2-8F77-6DC3A0CE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051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16F"/>
                </a:solidFill>
              </a:defRPr>
            </a:pPr>
            <a:r>
              <a:rPr sz="1200" b="0" i="0">
                <a:solidFill>
                  <a:srgbClr val="56616F"/>
                </a:solidFill>
              </a:rPr>
              <a:t>target DV01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CF8BF-7826-462D-B957-25A51624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Instrument | Plain-vanilla IRS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Direction | Pay fixed, receive float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Indicative notional | TRY 10.3bn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2C3EE-9CC9-4B64-9A33-349C9330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D0211-E943-43C4-A889-78C7BBF9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</a:defRPr>
            </a:pPr>
            <a:r>
              <a:rPr sz="1725" b="1" i="0">
                <a:solidFill>
                  <a:srgbClr val="101820"/>
                </a:solidFill>
              </a:rPr>
              <a:t>Execution gate | ALCO approval → independent price validation → counterparty and collateral checks → trade capture and post-trade limit validation</a:t>
            </a:r>
          </a:p>
        </p:txBody>
      </p:sp>
    </p:spTree>
    <p:extLst>
      <p:ext uri="{BB962C8B-B14F-4D97-AF65-F5344CB8AC3E}">
        <p14:creationId xmlns:p14="http://schemas.microsoft.com/office/powerpoint/2010/main" val="5298052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28CD3D-94DC-4E0B-AD97-8C8B4F0D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7D718-5781-4862-B3BF-890FD1EE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E6E27-E40D-4216-A338-F8080163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5F4F0-008F-4374-8C3F-A2E0747E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Sources: test suite, control outputs and CI configuration in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BCFC1-0844-44F3-BE68-ACC94400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5C7B3-A8AA-418A-821A-18743528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Controls surface risk without hiding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D79B1-34DA-43D8-9946-7929E123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Model integrity is green; business risk remains visible and actionable.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63D08-A866-4524-98DE-710FD0DD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D52"/>
                </a:solidFill>
              </a:defRPr>
            </a:pPr>
            <a:r>
              <a:rPr sz="1350" b="1" i="0">
                <a:solidFill>
                  <a:srgbClr val="0B3D52"/>
                </a:solidFill>
              </a:rPr>
              <a:t>CONTROL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49CF1-5C59-4A34-B747-11E63FAB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71F5A-E557-46BB-A114-38D2E4AF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</a:defRPr>
            </a:pPr>
            <a:r>
              <a:rPr sz="1425" b="1" i="0">
                <a:solidFill>
                  <a:srgbClr val="101820"/>
                </a:solidFill>
              </a:rPr>
              <a:t>Data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0E30A-CF47-4423-9B63-27BAE5C9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10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5B42F-EA61-43D5-83A6-6FDC01D1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317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5803D"/>
                </a:solidFill>
              </a:defRPr>
            </a:pPr>
            <a:r>
              <a:rPr sz="1200" b="1" i="0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25DA2-D015-4734-99B3-6EC8BFFA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</a:defRPr>
            </a:pPr>
            <a:r>
              <a:rPr sz="1425" b="1" i="0">
                <a:solidFill>
                  <a:srgbClr val="101820"/>
                </a:solidFill>
              </a:rPr>
              <a:t>Risk limits evaluated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0DB67-967C-4C5D-B9EA-9E4CAC3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337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7 /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F6ADD-3639-48CA-BD6F-F68289D2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337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5803D"/>
                </a:solidFill>
              </a:defRPr>
            </a:pPr>
            <a:r>
              <a:rPr sz="1200" b="1" i="0">
                <a:solidFill>
                  <a:srgbClr val="15803D"/>
                </a:solidFill>
              </a:rPr>
              <a:t>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035A9-1368-4212-9F98-483DD344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843B2-7042-4A81-87E0-D10C5BFD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</a:defRPr>
            </a:pPr>
            <a:r>
              <a:rPr sz="1425" b="1" i="0">
                <a:solidFill>
                  <a:srgbClr val="101820"/>
                </a:solidFill>
              </a:rPr>
              <a:t>Formal limit breaches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73DBB-89FF-413A-AD51-E74CCE98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242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8182C-BAFE-49BE-A092-6DDE1552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2427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97316"/>
                </a:solidFill>
              </a:defRPr>
            </a:pPr>
            <a:r>
              <a:rPr sz="1200" b="1" i="0">
                <a:solidFill>
                  <a:srgbClr val="F97316"/>
                </a:solidFill>
              </a:rPr>
              <a:t>SURFACED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DFCAA-8272-444D-9BCF-C8402C02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</a:defRPr>
            </a:pPr>
            <a:r>
              <a:rPr sz="1425" b="1" i="0">
                <a:solidFill>
                  <a:srgbClr val="101820"/>
                </a:solidFill>
              </a:rPr>
              <a:t>Unit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5BF75-9EA1-4712-BCAB-16E6CE67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148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43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59E11-D723-40A8-BBBF-A70AAE7B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148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5803D"/>
                </a:solidFill>
              </a:defRPr>
            </a:pPr>
            <a:r>
              <a:rPr sz="1200" b="1" i="0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F96E6-B081-4343-B80D-4012C00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6232F-24EE-4C00-804B-AE326D4B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</a:defRPr>
            </a:pPr>
            <a:r>
              <a:rPr sz="1425" b="1" i="0">
                <a:solidFill>
                  <a:srgbClr val="101820"/>
                </a:solidFill>
              </a:rPr>
              <a:t>Line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FB247-14C2-436C-9480-7B7FB8FF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053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94.88%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B9B9C-381E-4BF8-B727-DFCBC295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0537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5803D"/>
                </a:solidFill>
              </a:defRPr>
            </a:pPr>
            <a:r>
              <a:rPr sz="1200" b="1" i="0">
                <a:solidFill>
                  <a:srgbClr val="15803D"/>
                </a:solidFill>
              </a:rPr>
              <a:t>ABOVE 90%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B0568B-9813-4585-A016-3AE91B97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4343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6ADD17-9443-4EDB-8C28-90E986E6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D52"/>
                </a:solidFill>
              </a:defRPr>
            </a:pPr>
            <a:r>
              <a:rPr sz="1350" b="1" i="0">
                <a:solidFill>
                  <a:srgbClr val="0B3D52"/>
                </a:solidFill>
              </a:rPr>
              <a:t>ENGINEERING GUARDRAILS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441754-788E-4C9A-A66B-6DE8B654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33700"/>
            <a:ext cx="36576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deterministic data seed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configuration-driven limits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checksum manifest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Ruff + Pytest + coverage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GitHub Actions + CodeQL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57D96A-4B08-499A-974D-A9CC46B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Control principle | A red risk indicator is evidence that the control tower is working—not a reason to paint the dashboard green.</a:t>
            </a:r>
          </a:p>
        </p:txBody>
      </p:sp>
    </p:spTree>
    <p:extLst>
      <p:ext uri="{BB962C8B-B14F-4D97-AF65-F5344CB8AC3E}">
        <p14:creationId xmlns:p14="http://schemas.microsoft.com/office/powerpoint/2010/main" val="1239692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FB123-D4C7-4644-B450-C64E7BB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AURELIA BANK | ALCO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819BE-89B6-43C9-9404-500AADE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6616F"/>
                </a:solidFill>
              </a:defRPr>
            </a:pPr>
            <a:r>
              <a:rPr sz="975" b="1" i="0">
                <a:solidFill>
                  <a:srgbClr val="56616F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FFC93-3BA4-4A57-BEF5-75DA1829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99A36-923F-495B-A2FA-DB84494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Decision requested from ALCO | owners and dates to be confirmed in meeting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F895B-6C16-4198-8104-AAA626A5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151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6616F"/>
                </a:solidFill>
              </a:defRPr>
            </a:pPr>
            <a:r>
              <a:rPr sz="825" b="0" i="0">
                <a:solidFill>
                  <a:srgbClr val="56616F"/>
                </a:solidFill>
              </a:rPr>
              <a:t>19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56F94-FA2D-44D8-8877-2D435711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</a:defRPr>
            </a:pPr>
            <a:r>
              <a:rPr sz="3000" b="1" i="0">
                <a:solidFill>
                  <a:srgbClr val="101820"/>
                </a:solidFill>
              </a:rPr>
              <a:t>Approve a controlled remediation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0949F-1870-4DB4-9769-49EDF3AF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16F"/>
                </a:solidFill>
              </a:defRPr>
            </a:pPr>
            <a:r>
              <a:rPr sz="1350" b="0" i="0">
                <a:solidFill>
                  <a:srgbClr val="56616F"/>
                </a:solidFill>
              </a:rPr>
              <a:t>Three decisions convert the analysis into accountable action without bypassing governance.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77206-29A2-4089-8BD1-48BF2FBD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581E5-D7ED-4CD6-A87C-27DB77F9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00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F232D-FB98-4AE7-85FC-824535B8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6616F"/>
                </a:solidFill>
              </a:defRPr>
            </a:pPr>
            <a:r>
              <a:rPr sz="1200" b="1" i="0">
                <a:solidFill>
                  <a:srgbClr val="56616F"/>
                </a:solidFill>
              </a:rPr>
              <a:t>0–5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0A2E5-F951-465C-A95F-64F3F818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147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</a:defRPr>
            </a:pPr>
            <a:r>
              <a:rPr sz="1875" b="1" i="0">
                <a:solidFill>
                  <a:srgbClr val="101820"/>
                </a:solidFill>
              </a:rPr>
              <a:t>Hedge FX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58618-70C2-4AC5-8C21-6C661C02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Approve 80% target</a:t>
            </a:r>
          </a:p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Set execution limits</a:t>
            </a:r>
          </a:p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Confirm counterparties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36537-EB26-45C1-B622-8F65651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00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EC4E1-5AE9-4E42-9F17-041129EE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6616F"/>
                </a:solidFill>
              </a:defRPr>
            </a:pPr>
            <a:r>
              <a:rPr sz="1200" b="1" i="0">
                <a:solidFill>
                  <a:srgbClr val="56616F"/>
                </a:solidFill>
              </a:rPr>
              <a:t>5–15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764D3-0899-48A7-BBE5-92E2DBC9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</a:defRPr>
            </a:pPr>
            <a:r>
              <a:rPr sz="1875" b="1" i="0">
                <a:solidFill>
                  <a:srgbClr val="101820"/>
                </a:solidFill>
              </a:rPr>
              <a:t>Protect liquidity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101A0-44E0-4B52-89D4-1526896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810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Retain HQLA</a:t>
            </a:r>
          </a:p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Pre-position funding</a:t>
            </a:r>
          </a:p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Monitor runoff triggers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68CF8-2E53-431E-98BF-641FF16C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00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1C2A7-0814-446E-854F-250605B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6616F"/>
                </a:solidFill>
              </a:defRPr>
            </a:pPr>
            <a:r>
              <a:rPr sz="1200" b="1" i="0">
                <a:solidFill>
                  <a:srgbClr val="56616F"/>
                </a:solidFill>
              </a:rPr>
              <a:t>15–30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7B105-9D0A-4C3F-804E-EE094324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</a:defRPr>
            </a:pPr>
            <a:r>
              <a:rPr sz="1875" b="1" i="0">
                <a:solidFill>
                  <a:srgbClr val="101820"/>
                </a:solidFill>
              </a:rPr>
              <a:t>Validate TRY IRS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2872A-0BB2-4581-8F1B-535C3B93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Validate DV01 mapping</a:t>
            </a:r>
          </a:p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Independent pricing</a:t>
            </a:r>
          </a:p>
          <a:p xmlns:a="http://schemas.openxmlformats.org/drawingml/2006/main">
            <a:pPr algn="ctr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Approve or resize trade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CB766-A024-4563-95AB-AEDE10EB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ABACF-B6A8-4287-8013-3D7524B9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DECISION | Approve the sequence, assign accountable owners, and require post-trade EVE, NII, liquidity and FX revalidation.</a:t>
            </a:r>
          </a:p>
        </p:txBody>
      </p:sp>
    </p:spTree>
    <p:extLst>
      <p:ext uri="{BB962C8B-B14F-4D97-AF65-F5344CB8AC3E}">
        <p14:creationId xmlns:p14="http://schemas.microsoft.com/office/powerpoint/2010/main" val="687452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2026-08-20T10:18:49.5660000Z</dcterms:created>
  <dcterms:modified xsi:type="dcterms:W3CDTF">2026-08-20T10:18:49.5660000Z</dcterms:modified>
</coreProperties>
</file>